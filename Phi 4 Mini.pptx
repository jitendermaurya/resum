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359" r:id="rId5"/>
    <p:sldId id="345" r:id="rId6"/>
    <p:sldId id="361" r:id="rId7"/>
    <p:sldId id="373" r:id="rId8"/>
    <p:sldId id="362" r:id="rId9"/>
    <p:sldId id="363" r:id="rId10"/>
    <p:sldId id="369" r:id="rId11"/>
    <p:sldId id="365" r:id="rId12"/>
    <p:sldId id="364" r:id="rId13"/>
    <p:sldId id="367" r:id="rId14"/>
    <p:sldId id="371" r:id="rId15"/>
    <p:sldId id="366" r:id="rId16"/>
    <p:sldId id="370" r:id="rId17"/>
    <p:sldId id="372" r:id="rId18"/>
    <p:sldId id="35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52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A3D024-909B-3BC2-1496-FEEAB652808A}" name="Sher Dionisio" initials="" userId="S::Sher.Dionisio@teksystemsgs.com::02daa716-9709-4d47-a153-1943ce1675c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99"/>
    <a:srgbClr val="FF3399"/>
    <a:srgbClr val="007966"/>
    <a:srgbClr val="00F2CC"/>
    <a:srgbClr val="AADCE5"/>
    <a:srgbClr val="E7CAD5"/>
    <a:srgbClr val="C0B3C6"/>
    <a:srgbClr val="A7AD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FD0F851-EC5A-4D38-B0AD-8093EC10F33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928" autoAdjust="0"/>
  </p:normalViewPr>
  <p:slideViewPr>
    <p:cSldViewPr snapToGrid="0">
      <p:cViewPr>
        <p:scale>
          <a:sx n="60" d="100"/>
          <a:sy n="60" d="100"/>
        </p:scale>
        <p:origin x="908" y="116"/>
      </p:cViewPr>
      <p:guideLst>
        <p:guide orient="horz" pos="175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0109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B440F78-2C9E-4C7F-818C-B40BB19D3A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D3FB98-80B9-4155-809A-82659D34A01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18EB1-FF96-47AA-9A30-F1BFF2FFD1F7}" type="datetimeFigureOut">
              <a:rPr lang="en-US" smtClean="0"/>
              <a:t>5/29/2025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DEF847-3492-4888-9C23-1504238536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E48C54-2332-4748-9C65-6A27E550C1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75FB2-D12E-4669-8522-D3E2C7E6DC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9918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E4A361-7934-4769-9B16-8A939698742C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18E0B9-48E4-499D-93B2-B07D00395B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043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626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700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630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3353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0128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933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1886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3032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25047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8071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7090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6762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962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878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CA39D92-9919-A80E-44FF-6B912E85073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8788" y="457200"/>
            <a:ext cx="11274425" cy="5943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62FF34D-C8F8-1796-647D-D17056A27E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1955" y="612475"/>
            <a:ext cx="4701904" cy="3079029"/>
          </a:xfrm>
        </p:spPr>
        <p:txBody>
          <a:bodyPr anchor="b">
            <a:normAutofit/>
          </a:bodyPr>
          <a:lstStyle>
            <a:lvl1pPr algn="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907688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C229E2-8757-94D8-A1B6-702189DCC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3249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77143C8-CDFF-B937-C00C-5E7B509399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883920"/>
            <a:ext cx="4114800" cy="50596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82637A1-1BB4-AF51-24C3-6FE78DD45D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438400"/>
            <a:ext cx="4799012" cy="3505200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1800"/>
            </a:lvl1pPr>
            <a:lvl2pPr marL="457200" indent="0">
              <a:lnSpc>
                <a:spcPct val="125000"/>
              </a:lnSpc>
              <a:buNone/>
              <a:defRPr sz="1600"/>
            </a:lvl2pPr>
            <a:lvl3pPr marL="914400" indent="0">
              <a:lnSpc>
                <a:spcPct val="125000"/>
              </a:lnSpc>
              <a:buNone/>
              <a:defRPr sz="1400"/>
            </a:lvl3pPr>
            <a:lvl4pPr marL="1371600" indent="0">
              <a:lnSpc>
                <a:spcPct val="125000"/>
              </a:lnSpc>
              <a:buNone/>
              <a:defRPr sz="1200"/>
            </a:lvl4pPr>
            <a:lvl5pPr marL="1828800" indent="0">
              <a:lnSpc>
                <a:spcPct val="125000"/>
              </a:lnSpc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rame 2">
            <a:extLst>
              <a:ext uri="{FF2B5EF4-FFF2-40B4-BE49-F238E27FC236}">
                <a16:creationId xmlns:a16="http://schemas.microsoft.com/office/drawing/2014/main" id="{56F59DF2-AB3C-B7B3-826A-636B8CC5AB31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7687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737016-0B2B-9F81-7A77-63223C486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34E572-08FE-0439-A460-8DFE1183A6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8742" y="914399"/>
            <a:ext cx="4798858" cy="5029199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1EB46EC-087C-B8FF-2363-B99FAE983B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914400"/>
            <a:ext cx="5713413" cy="50292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926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1D49246-C641-C3BA-F07B-89FFC6CDAE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853439"/>
            <a:ext cx="4802373" cy="2833689"/>
          </a:xfrm>
        </p:spPr>
        <p:txBody>
          <a:bodyPr rIns="914400" anchor="b"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BE7E1DF-A70C-8F79-9B76-72B2A7B4DC7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3931919"/>
            <a:ext cx="4802735" cy="2072641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800"/>
            </a:lvl1pPr>
            <a:lvl2pPr marL="457200" indent="0">
              <a:lnSpc>
                <a:spcPct val="125000"/>
              </a:lnSpc>
              <a:spcBef>
                <a:spcPts val="0"/>
              </a:spcBef>
              <a:buNone/>
              <a:defRPr sz="1600"/>
            </a:lvl2pPr>
            <a:lvl3pPr marL="914400" indent="0">
              <a:lnSpc>
                <a:spcPct val="125000"/>
              </a:lnSpc>
              <a:spcBef>
                <a:spcPts val="0"/>
              </a:spcBef>
              <a:buNone/>
              <a:defRPr sz="1400"/>
            </a:lvl3pPr>
            <a:lvl4pPr marL="1371600" indent="0">
              <a:lnSpc>
                <a:spcPct val="125000"/>
              </a:lnSpc>
              <a:spcBef>
                <a:spcPts val="0"/>
              </a:spcBef>
              <a:buNone/>
              <a:defRPr sz="1200"/>
            </a:lvl4pPr>
            <a:lvl5pPr marL="1828800" indent="0">
              <a:lnSpc>
                <a:spcPct val="125000"/>
              </a:lnSpc>
              <a:spcBef>
                <a:spcPts val="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CD5F637-DFBF-7FED-7CD5-F46A26E5CD1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8587" y="921230"/>
            <a:ext cx="5713413" cy="5029200"/>
          </a:xfrm>
          <a:custGeom>
            <a:avLst/>
            <a:gdLst>
              <a:gd name="connsiteX0" fmla="*/ 5327097 w 5713413"/>
              <a:gd name="connsiteY0" fmla="*/ 0 h 5029200"/>
              <a:gd name="connsiteX1" fmla="*/ 5713413 w 5713413"/>
              <a:gd name="connsiteY1" fmla="*/ 0 h 5029200"/>
              <a:gd name="connsiteX2" fmla="*/ 5713413 w 5713413"/>
              <a:gd name="connsiteY2" fmla="*/ 5029200 h 5029200"/>
              <a:gd name="connsiteX3" fmla="*/ 5327097 w 5713413"/>
              <a:gd name="connsiteY3" fmla="*/ 5029200 h 5029200"/>
              <a:gd name="connsiteX4" fmla="*/ 0 w 5713413"/>
              <a:gd name="connsiteY4" fmla="*/ 0 h 5029200"/>
              <a:gd name="connsiteX5" fmla="*/ 5313743 w 5713413"/>
              <a:gd name="connsiteY5" fmla="*/ 0 h 5029200"/>
              <a:gd name="connsiteX6" fmla="*/ 5313743 w 5713413"/>
              <a:gd name="connsiteY6" fmla="*/ 5029200 h 5029200"/>
              <a:gd name="connsiteX7" fmla="*/ 0 w 5713413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3413" h="5029200">
                <a:moveTo>
                  <a:pt x="5327097" y="0"/>
                </a:moveTo>
                <a:lnTo>
                  <a:pt x="5713413" y="0"/>
                </a:lnTo>
                <a:lnTo>
                  <a:pt x="5713413" y="5029200"/>
                </a:lnTo>
                <a:lnTo>
                  <a:pt x="5327097" y="5029200"/>
                </a:lnTo>
                <a:close/>
                <a:moveTo>
                  <a:pt x="0" y="0"/>
                </a:moveTo>
                <a:lnTo>
                  <a:pt x="5313743" y="0"/>
                </a:lnTo>
                <a:lnTo>
                  <a:pt x="5313743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rame 12">
            <a:extLst>
              <a:ext uri="{FF2B5EF4-FFF2-40B4-BE49-F238E27FC236}">
                <a16:creationId xmlns:a16="http://schemas.microsoft.com/office/drawing/2014/main" id="{33E3B934-3E16-21AF-8F5A-9EFD93255705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050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D872928-B479-F7C5-9C83-C448FBA36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20445"/>
            <a:ext cx="4114800" cy="502920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61E3771A-E1EB-0CBE-828C-2C5E1F2AE6C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475227" y="1020445"/>
            <a:ext cx="4802735" cy="5029200"/>
          </a:xfrm>
        </p:spPr>
        <p:txBody>
          <a:bodyPr anchor="ctr">
            <a:normAutofit/>
          </a:bodyPr>
          <a:lstStyle>
            <a:lvl1pPr marL="22860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lvl1pPr>
            <a:lvl2pPr marL="41148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/>
            </a:lvl2pPr>
            <a:lvl3pPr marL="59436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/>
            </a:lvl3pPr>
            <a:lvl4pPr marL="77724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/>
            </a:lvl4pPr>
            <a:lvl5pPr marL="96012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A1635D-96F0-769B-4ECB-70502770A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4F877767-0342-A344-0462-A0D877FF68F8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152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21F215D-0D9E-64B3-1F66-E90B87932A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00741"/>
            <a:ext cx="4802372" cy="278891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E86A4459-11C2-44C6-0173-C666D5AADC1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3825239"/>
            <a:ext cx="4802735" cy="2072641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800"/>
            </a:lvl1pPr>
            <a:lvl2pPr marL="457200" indent="0">
              <a:lnSpc>
                <a:spcPct val="125000"/>
              </a:lnSpc>
              <a:spcBef>
                <a:spcPts val="0"/>
              </a:spcBef>
              <a:buNone/>
              <a:defRPr sz="1600"/>
            </a:lvl2pPr>
            <a:lvl3pPr marL="914400" indent="0">
              <a:lnSpc>
                <a:spcPct val="125000"/>
              </a:lnSpc>
              <a:spcBef>
                <a:spcPts val="0"/>
              </a:spcBef>
              <a:buNone/>
              <a:defRPr sz="1400"/>
            </a:lvl3pPr>
            <a:lvl4pPr marL="1371600" indent="0">
              <a:lnSpc>
                <a:spcPct val="125000"/>
              </a:lnSpc>
              <a:spcBef>
                <a:spcPts val="0"/>
              </a:spcBef>
              <a:buNone/>
              <a:defRPr sz="1200"/>
            </a:lvl4pPr>
            <a:lvl5pPr marL="1828800" indent="0">
              <a:lnSpc>
                <a:spcPct val="125000"/>
              </a:lnSpc>
              <a:spcBef>
                <a:spcPts val="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84EF14-0982-D931-9DD6-ECFE61D5B0F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8587" y="921230"/>
            <a:ext cx="5713413" cy="5029200"/>
          </a:xfrm>
          <a:custGeom>
            <a:avLst/>
            <a:gdLst>
              <a:gd name="connsiteX0" fmla="*/ 5327097 w 5713413"/>
              <a:gd name="connsiteY0" fmla="*/ 0 h 5029200"/>
              <a:gd name="connsiteX1" fmla="*/ 5713413 w 5713413"/>
              <a:gd name="connsiteY1" fmla="*/ 0 h 5029200"/>
              <a:gd name="connsiteX2" fmla="*/ 5713413 w 5713413"/>
              <a:gd name="connsiteY2" fmla="*/ 5029200 h 5029200"/>
              <a:gd name="connsiteX3" fmla="*/ 5327097 w 5713413"/>
              <a:gd name="connsiteY3" fmla="*/ 5029200 h 5029200"/>
              <a:gd name="connsiteX4" fmla="*/ 0 w 5713413"/>
              <a:gd name="connsiteY4" fmla="*/ 0 h 5029200"/>
              <a:gd name="connsiteX5" fmla="*/ 5313743 w 5713413"/>
              <a:gd name="connsiteY5" fmla="*/ 0 h 5029200"/>
              <a:gd name="connsiteX6" fmla="*/ 5313743 w 5713413"/>
              <a:gd name="connsiteY6" fmla="*/ 5029200 h 5029200"/>
              <a:gd name="connsiteX7" fmla="*/ 0 w 5713413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3413" h="5029200">
                <a:moveTo>
                  <a:pt x="5327097" y="0"/>
                </a:moveTo>
                <a:lnTo>
                  <a:pt x="5713413" y="0"/>
                </a:lnTo>
                <a:lnTo>
                  <a:pt x="5713413" y="5029200"/>
                </a:lnTo>
                <a:lnTo>
                  <a:pt x="5327097" y="5029200"/>
                </a:lnTo>
                <a:close/>
                <a:moveTo>
                  <a:pt x="0" y="0"/>
                </a:moveTo>
                <a:lnTo>
                  <a:pt x="5313743" y="0"/>
                </a:lnTo>
                <a:lnTo>
                  <a:pt x="5313743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7D7E927E-4F73-5579-4F1D-E13899DEEA04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067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0" y="2153285"/>
            <a:ext cx="4953001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09360" y="2153285"/>
            <a:ext cx="5135880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55D7E8F5-692D-24DD-0F8C-9563BA74AAF4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435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1" y="2153285"/>
            <a:ext cx="3261359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 b="1"/>
            </a:lvl1pPr>
            <a:lvl2pPr>
              <a:spcBef>
                <a:spcPts val="1000"/>
              </a:spcBef>
              <a:spcAft>
                <a:spcPts val="1200"/>
              </a:spcAft>
              <a:defRPr sz="1600" b="1"/>
            </a:lvl2pPr>
            <a:lvl3pPr>
              <a:spcBef>
                <a:spcPts val="1000"/>
              </a:spcBef>
              <a:spcAft>
                <a:spcPts val="1200"/>
              </a:spcAft>
              <a:defRPr sz="1400" b="1"/>
            </a:lvl3pPr>
            <a:lvl4pPr>
              <a:spcBef>
                <a:spcPts val="1000"/>
              </a:spcBef>
              <a:spcAft>
                <a:spcPts val="1200"/>
              </a:spcAft>
              <a:defRPr sz="1200" b="1"/>
            </a:lvl4pPr>
            <a:lvl5pPr>
              <a:spcBef>
                <a:spcPts val="1000"/>
              </a:spcBef>
              <a:spcAft>
                <a:spcPts val="1200"/>
              </a:spcAft>
              <a:defRPr sz="1200" b="1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480560" y="2153285"/>
            <a:ext cx="6964680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5C0F1533-3810-C210-9B67-D2F4A1846C23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165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9C70371-D147-2B29-EAEB-B10A799D09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169" y="614812"/>
            <a:ext cx="10359659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5AE226-98C6-70F4-8DED-59E8FE3040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367" y="2177378"/>
            <a:ext cx="5713413" cy="4669987"/>
          </a:xfrm>
          <a:custGeom>
            <a:avLst/>
            <a:gdLst>
              <a:gd name="connsiteX0" fmla="*/ 400038 w 5713413"/>
              <a:gd name="connsiteY0" fmla="*/ 0 h 4669987"/>
              <a:gd name="connsiteX1" fmla="*/ 5713413 w 5713413"/>
              <a:gd name="connsiteY1" fmla="*/ 0 h 4669987"/>
              <a:gd name="connsiteX2" fmla="*/ 5713413 w 5713413"/>
              <a:gd name="connsiteY2" fmla="*/ 4315224 h 4669987"/>
              <a:gd name="connsiteX3" fmla="*/ 400038 w 5713413"/>
              <a:gd name="connsiteY3" fmla="*/ 4315224 h 4669987"/>
              <a:gd name="connsiteX4" fmla="*/ 0 w 5713413"/>
              <a:gd name="connsiteY4" fmla="*/ 0 h 4669987"/>
              <a:gd name="connsiteX5" fmla="*/ 386684 w 5713413"/>
              <a:gd name="connsiteY5" fmla="*/ 0 h 4669987"/>
              <a:gd name="connsiteX6" fmla="*/ 386684 w 5713413"/>
              <a:gd name="connsiteY6" fmla="*/ 4328578 h 4669987"/>
              <a:gd name="connsiteX7" fmla="*/ 5713413 w 5713413"/>
              <a:gd name="connsiteY7" fmla="*/ 4328578 h 4669987"/>
              <a:gd name="connsiteX8" fmla="*/ 5713413 w 5713413"/>
              <a:gd name="connsiteY8" fmla="*/ 4669987 h 4669987"/>
              <a:gd name="connsiteX9" fmla="*/ 0 w 5713413"/>
              <a:gd name="connsiteY9" fmla="*/ 4669987 h 4669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13413" h="4669987">
                <a:moveTo>
                  <a:pt x="400038" y="0"/>
                </a:moveTo>
                <a:lnTo>
                  <a:pt x="5713413" y="0"/>
                </a:lnTo>
                <a:lnTo>
                  <a:pt x="5713413" y="4315224"/>
                </a:lnTo>
                <a:lnTo>
                  <a:pt x="400038" y="4315224"/>
                </a:lnTo>
                <a:close/>
                <a:moveTo>
                  <a:pt x="0" y="0"/>
                </a:moveTo>
                <a:lnTo>
                  <a:pt x="386684" y="0"/>
                </a:lnTo>
                <a:lnTo>
                  <a:pt x="386684" y="4328578"/>
                </a:lnTo>
                <a:lnTo>
                  <a:pt x="5713413" y="4328578"/>
                </a:lnTo>
                <a:lnTo>
                  <a:pt x="5713413" y="4669987"/>
                </a:lnTo>
                <a:lnTo>
                  <a:pt x="0" y="466998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EEA9034-22FD-3C2F-6A27-6363896980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153285"/>
            <a:ext cx="4799012" cy="3790315"/>
          </a:xfrm>
        </p:spPr>
        <p:txBody>
          <a:bodyPr>
            <a:normAutofit/>
          </a:bodyPr>
          <a:lstStyle>
            <a:lvl1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2000"/>
            </a:lvl1pPr>
            <a:lvl2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800"/>
            </a:lvl2pPr>
            <a:lvl3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600"/>
            </a:lvl3pPr>
            <a:lvl4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400"/>
            </a:lvl4pPr>
            <a:lvl5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72AFED-AF5A-A2E9-0D36-388733BBE9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7A42E613-3DCC-07A2-BA9B-74B13F28E591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901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30338E2-B50A-8F3E-2CA7-A75753E7ED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2629" y="598947"/>
            <a:ext cx="10515600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C8DD029-A673-92B9-0343-3B35BE46D2F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9641" y="2153285"/>
            <a:ext cx="3032759" cy="3790310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6E658BA3-0202-C705-7A02-8B70B7884420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724400" y="2170621"/>
            <a:ext cx="6553200" cy="3772974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BD761E53-47C7-492A-D5B5-A8C2740B5157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953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2" y="2153285"/>
            <a:ext cx="6925660" cy="3500438"/>
          </a:xfrm>
        </p:spPr>
        <p:txBody>
          <a:bodyPr lIns="91440">
            <a:normAutofit/>
          </a:bodyPr>
          <a:lstStyle>
            <a:lvl1pPr marL="0" indent="0">
              <a:spcBef>
                <a:spcPts val="1000"/>
              </a:spcBef>
              <a:spcAft>
                <a:spcPts val="1200"/>
              </a:spcAft>
              <a:buNone/>
              <a:defRPr sz="1800" b="0"/>
            </a:lvl1pPr>
            <a:lvl2pPr marL="228600">
              <a:spcBef>
                <a:spcPts val="1000"/>
              </a:spcBef>
              <a:spcAft>
                <a:spcPts val="1200"/>
              </a:spcAft>
              <a:defRPr sz="1800" b="0"/>
            </a:lvl2pPr>
            <a:lvl3pPr marL="685800">
              <a:spcBef>
                <a:spcPts val="1000"/>
              </a:spcBef>
              <a:spcAft>
                <a:spcPts val="1200"/>
              </a:spcAft>
              <a:defRPr sz="1800" b="0"/>
            </a:lvl3pPr>
            <a:lvl4pPr marL="868680">
              <a:spcBef>
                <a:spcPts val="1000"/>
              </a:spcBef>
              <a:spcAft>
                <a:spcPts val="1200"/>
              </a:spcAft>
              <a:defRPr sz="1800" b="0"/>
            </a:lvl4pPr>
            <a:lvl5pPr marL="1143000">
              <a:spcBef>
                <a:spcPts val="1000"/>
              </a:spcBef>
              <a:spcAft>
                <a:spcPts val="1200"/>
              </a:spcAft>
              <a:defRPr sz="18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215745" y="2153285"/>
            <a:ext cx="3229495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 b="1"/>
            </a:lvl1pPr>
            <a:lvl2pPr>
              <a:spcBef>
                <a:spcPts val="1000"/>
              </a:spcBef>
              <a:spcAft>
                <a:spcPts val="1200"/>
              </a:spcAft>
              <a:defRPr sz="1600" b="1"/>
            </a:lvl2pPr>
            <a:lvl3pPr>
              <a:spcBef>
                <a:spcPts val="1000"/>
              </a:spcBef>
              <a:spcAft>
                <a:spcPts val="1200"/>
              </a:spcAft>
              <a:defRPr sz="1400" b="1"/>
            </a:lvl3pPr>
            <a:lvl4pPr>
              <a:spcBef>
                <a:spcPts val="1000"/>
              </a:spcBef>
              <a:spcAft>
                <a:spcPts val="1200"/>
              </a:spcAft>
              <a:defRPr sz="1200" b="1"/>
            </a:lvl4pPr>
            <a:lvl5pPr>
              <a:spcBef>
                <a:spcPts val="1000"/>
              </a:spcBef>
              <a:spcAft>
                <a:spcPts val="1200"/>
              </a:spcAft>
              <a:defRPr sz="1200" b="1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C9F70CF1-DCAD-AE71-6B34-7BFB25EE530B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4235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33145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0CF90928-AB48-3554-E2B9-417A00F286AD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930275" y="2168526"/>
            <a:ext cx="10331450" cy="393906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D6C0A7-887A-66E2-A954-5E0592B9F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688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BB1E76-5845-01C9-1D0D-03CFFE6F0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96C21AF-4286-DECE-37A1-E8980687A1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655320"/>
            <a:ext cx="4572000" cy="5486400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8E1D6B3-3EC8-6AC4-BE2B-5C732C85679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773680"/>
            <a:ext cx="4572000" cy="336804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457200" indent="0">
              <a:spcBef>
                <a:spcPts val="1000"/>
              </a:spcBef>
              <a:buNone/>
              <a:defRPr sz="1600"/>
            </a:lvl2pPr>
            <a:lvl3pPr marL="914400" indent="0">
              <a:spcBef>
                <a:spcPts val="1000"/>
              </a:spcBef>
              <a:buNone/>
              <a:defRPr sz="1400"/>
            </a:lvl3pPr>
            <a:lvl4pPr marL="1371600" indent="0">
              <a:spcBef>
                <a:spcPts val="1000"/>
              </a:spcBef>
              <a:buNone/>
              <a:defRPr sz="1200"/>
            </a:lvl4pPr>
            <a:lvl5pPr marL="1828800" indent="0"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1139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1920" userDrawn="1">
          <p15:clr>
            <a:srgbClr val="F26B43"/>
          </p15:clr>
        </p15:guide>
        <p15:guide id="4" pos="5760" userDrawn="1">
          <p15:clr>
            <a:srgbClr val="F26B43"/>
          </p15:clr>
        </p15:guide>
        <p15:guide id="5" pos="7248" userDrawn="1">
          <p15:clr>
            <a:srgbClr val="F26B43"/>
          </p15:clr>
        </p15:guide>
        <p15:guide id="6" pos="4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A group of potted plants">
            <a:extLst>
              <a:ext uri="{FF2B5EF4-FFF2-40B4-BE49-F238E27FC236}">
                <a16:creationId xmlns:a16="http://schemas.microsoft.com/office/drawing/2014/main" id="{C5E399AE-C2DC-0BE4-A179-9A726D23FFC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51246" r="15"/>
          <a:stretch/>
        </p:blipFill>
        <p:spPr>
          <a:xfrm>
            <a:off x="515006" y="457200"/>
            <a:ext cx="5496729" cy="59436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26ABF06-5491-8319-408F-AC9C03E64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170" y="723014"/>
            <a:ext cx="3108569" cy="286015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Phi-4-Mini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Technical Report</a:t>
            </a:r>
          </a:p>
        </p:txBody>
      </p:sp>
      <p:pic>
        <p:nvPicPr>
          <p:cNvPr id="15" name="Picture 14" descr="A toy robot reading a book">
            <a:extLst>
              <a:ext uri="{FF2B5EF4-FFF2-40B4-BE49-F238E27FC236}">
                <a16:creationId xmlns:a16="http://schemas.microsoft.com/office/drawing/2014/main" id="{C9609A8D-043C-E3A4-3463-C9068A2A60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11735" y="457200"/>
            <a:ext cx="5943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967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44B7D88-18D8-7250-6364-BECA6F65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83920"/>
            <a:ext cx="2326640" cy="5059680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C0D5F39-EF49-BECB-8276-8B8A46F07AC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58853" y="1168400"/>
            <a:ext cx="4799012" cy="4602480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b="1" dirty="0"/>
              <a:t>Phi-4-Mini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About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Multi Head Self Attention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Feed Forward Layer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400" b="1" dirty="0" err="1"/>
              <a:t>RMSNorm</a:t>
            </a:r>
            <a:endParaRPr lang="en-US" sz="2400" b="1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Architecture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b="1" dirty="0"/>
              <a:t>Phi-4-Mini-Multimodal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About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Architecture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810374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304888D-B78B-26F5-9075-CDA3C673C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82" y="396239"/>
            <a:ext cx="3935258" cy="1534161"/>
          </a:xfrm>
        </p:spPr>
        <p:txBody>
          <a:bodyPr/>
          <a:lstStyle/>
          <a:p>
            <a:r>
              <a:rPr lang="en-US" dirty="0"/>
              <a:t> Phi-4-Mini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AA7476-6AF4-D2E3-2FEC-352D761939FE}"/>
              </a:ext>
            </a:extLst>
          </p:cNvPr>
          <p:cNvSpPr txBox="1"/>
          <p:nvPr/>
        </p:nvSpPr>
        <p:spPr>
          <a:xfrm>
            <a:off x="838200" y="1741269"/>
            <a:ext cx="106324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Carefully curated and synthesized data enables Small Language Models (SLMs) to achieve highly competitive performance despite having a significantly smaller number of parameters.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Compact (3.8 Billion parameter ), highly capable language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Expanded Vocabulary size of 200064 to support multilingual application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32 Transformer layers with hidden size of 3072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Tied input and output embedding, reduces memory consumptions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24 Query head and 8 key/value head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Group query attention for efficient long sequence generations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Trained on high-quality  web and synthetic data, significantly outperforming recent open-source models of similar size and matching the performance of models twice its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 128K context length</a:t>
            </a:r>
          </a:p>
        </p:txBody>
      </p:sp>
    </p:spTree>
    <p:extLst>
      <p:ext uri="{BB962C8B-B14F-4D97-AF65-F5344CB8AC3E}">
        <p14:creationId xmlns:p14="http://schemas.microsoft.com/office/powerpoint/2010/main" val="3217553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>
            <a:extLst>
              <a:ext uri="{FF2B5EF4-FFF2-40B4-BE49-F238E27FC236}">
                <a16:creationId xmlns:a16="http://schemas.microsoft.com/office/drawing/2014/main" id="{864DB9D0-E5EE-D9DA-7B81-652BF68E7DFA}"/>
              </a:ext>
            </a:extLst>
          </p:cNvPr>
          <p:cNvSpPr txBox="1">
            <a:spLocks/>
          </p:cNvSpPr>
          <p:nvPr/>
        </p:nvSpPr>
        <p:spPr>
          <a:xfrm>
            <a:off x="731520" y="1299775"/>
            <a:ext cx="4622800" cy="61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/>
              <a:t>Group Query Attention 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F15759B-C4FF-5CD0-941B-4F9E83CF88DD}"/>
              </a:ext>
            </a:extLst>
          </p:cNvPr>
          <p:cNvGrpSpPr/>
          <p:nvPr/>
        </p:nvGrpSpPr>
        <p:grpSpPr>
          <a:xfrm>
            <a:off x="473456" y="1824588"/>
            <a:ext cx="4436871" cy="3676650"/>
            <a:chOff x="5740400" y="1590675"/>
            <a:chExt cx="5153791" cy="367665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548920A-E635-BF17-7105-C94B8A0DA6ED}"/>
                </a:ext>
              </a:extLst>
            </p:cNvPr>
            <p:cNvGrpSpPr/>
            <p:nvPr/>
          </p:nvGrpSpPr>
          <p:grpSpPr>
            <a:xfrm>
              <a:off x="6390640" y="1590675"/>
              <a:ext cx="4503551" cy="3676650"/>
              <a:chOff x="4859523" y="1590675"/>
              <a:chExt cx="4503551" cy="3676650"/>
            </a:xfrm>
          </p:grpSpPr>
          <p:pic>
            <p:nvPicPr>
              <p:cNvPr id="1026" name="Picture 2" descr="Variants of Multi-head attention: Multi-query (MQA) and Grouped-query  attention (GQA) - YouTube">
                <a:extLst>
                  <a:ext uri="{FF2B5EF4-FFF2-40B4-BE49-F238E27FC236}">
                    <a16:creationId xmlns:a16="http://schemas.microsoft.com/office/drawing/2014/main" id="{C176D5ED-B6A5-F204-DD48-362EF647B86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6568"/>
              <a:stretch/>
            </p:blipFill>
            <p:spPr bwMode="auto">
              <a:xfrm>
                <a:off x="7178565" y="1590675"/>
                <a:ext cx="2184509" cy="36766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" name="Picture 2" descr="Variants of Multi-head attention: Multi-query (MQA) and Grouped-query  attention (GQA) - YouTube">
                <a:extLst>
                  <a:ext uri="{FF2B5EF4-FFF2-40B4-BE49-F238E27FC236}">
                    <a16:creationId xmlns:a16="http://schemas.microsoft.com/office/drawing/2014/main" id="{471233BD-AAE8-C165-167B-45559994C0D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4509"/>
              <a:stretch/>
            </p:blipFill>
            <p:spPr bwMode="auto">
              <a:xfrm>
                <a:off x="4859523" y="1590675"/>
                <a:ext cx="2319042" cy="36766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4B36612-E146-C090-35DB-BC3234796F81}"/>
                </a:ext>
              </a:extLst>
            </p:cNvPr>
            <p:cNvSpPr txBox="1"/>
            <p:nvPr/>
          </p:nvSpPr>
          <p:spPr>
            <a:xfrm>
              <a:off x="5872480" y="2783840"/>
              <a:ext cx="650240" cy="3759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Key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C0D6D9D-4BDD-940F-A1C7-EBF46B38DD2B}"/>
                </a:ext>
              </a:extLst>
            </p:cNvPr>
            <p:cNvSpPr txBox="1"/>
            <p:nvPr/>
          </p:nvSpPr>
          <p:spPr>
            <a:xfrm>
              <a:off x="5770880" y="3464560"/>
              <a:ext cx="9031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Value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68B96B1-BEE7-3979-1BF7-05F44196B1FB}"/>
                </a:ext>
              </a:extLst>
            </p:cNvPr>
            <p:cNvSpPr txBox="1"/>
            <p:nvPr/>
          </p:nvSpPr>
          <p:spPr>
            <a:xfrm>
              <a:off x="5740400" y="4206240"/>
              <a:ext cx="9031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Query</a:t>
              </a:r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BDDB037-FD35-1D5F-0E72-793725C2EE5A}"/>
              </a:ext>
            </a:extLst>
          </p:cNvPr>
          <p:cNvCxnSpPr>
            <a:cxnSpLocks/>
          </p:cNvCxnSpPr>
          <p:nvPr/>
        </p:nvCxnSpPr>
        <p:spPr>
          <a:xfrm>
            <a:off x="8790410" y="5810336"/>
            <a:ext cx="0" cy="4368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0770256A-7775-BABA-4F75-FCD3FFCAD616}"/>
              </a:ext>
            </a:extLst>
          </p:cNvPr>
          <p:cNvSpPr/>
          <p:nvPr/>
        </p:nvSpPr>
        <p:spPr>
          <a:xfrm>
            <a:off x="5897880" y="883907"/>
            <a:ext cx="5684520" cy="5099149"/>
          </a:xfrm>
          <a:prstGeom prst="roundRect">
            <a:avLst>
              <a:gd name="adj" fmla="val 3080"/>
            </a:avLst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         ………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6A1F69C1-B705-45DC-B003-AC6E3B313BAA}"/>
              </a:ext>
            </a:extLst>
          </p:cNvPr>
          <p:cNvSpPr/>
          <p:nvPr/>
        </p:nvSpPr>
        <p:spPr>
          <a:xfrm>
            <a:off x="6027074" y="964016"/>
            <a:ext cx="5377685" cy="508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Split into heads</a:t>
            </a:r>
          </a:p>
        </p:txBody>
      </p:sp>
      <p:sp>
        <p:nvSpPr>
          <p:cNvPr id="1029" name="Rectangle: Rounded Corners 1028">
            <a:extLst>
              <a:ext uri="{FF2B5EF4-FFF2-40B4-BE49-F238E27FC236}">
                <a16:creationId xmlns:a16="http://schemas.microsoft.com/office/drawing/2014/main" id="{8375BB4A-39E9-CCCD-4D11-1FB8CA892D27}"/>
              </a:ext>
            </a:extLst>
          </p:cNvPr>
          <p:cNvSpPr/>
          <p:nvPr/>
        </p:nvSpPr>
        <p:spPr>
          <a:xfrm>
            <a:off x="6027074" y="4804496"/>
            <a:ext cx="5377685" cy="5080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Concatenate output of all head</a:t>
            </a:r>
          </a:p>
        </p:txBody>
      </p:sp>
      <p:sp>
        <p:nvSpPr>
          <p:cNvPr id="1030" name="Rectangle: Rounded Corners 1029">
            <a:extLst>
              <a:ext uri="{FF2B5EF4-FFF2-40B4-BE49-F238E27FC236}">
                <a16:creationId xmlns:a16="http://schemas.microsoft.com/office/drawing/2014/main" id="{66ADAC4B-FB84-CB28-2D64-33140D054046}"/>
              </a:ext>
            </a:extLst>
          </p:cNvPr>
          <p:cNvSpPr/>
          <p:nvPr/>
        </p:nvSpPr>
        <p:spPr>
          <a:xfrm>
            <a:off x="6035148" y="5444576"/>
            <a:ext cx="5377685" cy="5080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Out projection [3072 x 3072] </a:t>
            </a:r>
          </a:p>
        </p:txBody>
      </p:sp>
      <p:sp>
        <p:nvSpPr>
          <p:cNvPr id="1032" name="Rectangle: Rounded Corners 1031">
            <a:extLst>
              <a:ext uri="{FF2B5EF4-FFF2-40B4-BE49-F238E27FC236}">
                <a16:creationId xmlns:a16="http://schemas.microsoft.com/office/drawing/2014/main" id="{711BF413-C5A2-56F6-02D7-94A6E476F6CD}"/>
              </a:ext>
            </a:extLst>
          </p:cNvPr>
          <p:cNvSpPr/>
          <p:nvPr/>
        </p:nvSpPr>
        <p:spPr>
          <a:xfrm>
            <a:off x="6163056" y="1507576"/>
            <a:ext cx="705996" cy="3195320"/>
          </a:xfrm>
          <a:prstGeom prst="roundRect">
            <a:avLst/>
          </a:prstGeom>
          <a:solidFill>
            <a:srgbClr val="FF3399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                                    </a:t>
            </a:r>
            <a:endParaRPr lang="en-US" dirty="0"/>
          </a:p>
          <a:p>
            <a:endParaRPr lang="en-US" dirty="0"/>
          </a:p>
        </p:txBody>
      </p:sp>
      <p:sp>
        <p:nvSpPr>
          <p:cNvPr id="1033" name="Rectangle: Rounded Corners 1032">
            <a:extLst>
              <a:ext uri="{FF2B5EF4-FFF2-40B4-BE49-F238E27FC236}">
                <a16:creationId xmlns:a16="http://schemas.microsoft.com/office/drawing/2014/main" id="{2637E039-E4CD-3826-FB14-7D9B1E2F1C88}"/>
              </a:ext>
            </a:extLst>
          </p:cNvPr>
          <p:cNvSpPr/>
          <p:nvPr/>
        </p:nvSpPr>
        <p:spPr>
          <a:xfrm>
            <a:off x="6243957" y="3707216"/>
            <a:ext cx="557148" cy="995680"/>
          </a:xfrm>
          <a:prstGeom prst="roundRect">
            <a:avLst/>
          </a:prstGeom>
          <a:solidFill>
            <a:schemeClr val="accent6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Query 1 </a:t>
            </a:r>
          </a:p>
        </p:txBody>
      </p:sp>
      <p:sp>
        <p:nvSpPr>
          <p:cNvPr id="1036" name="Rectangle: Rounded Corners 1035">
            <a:extLst>
              <a:ext uri="{FF2B5EF4-FFF2-40B4-BE49-F238E27FC236}">
                <a16:creationId xmlns:a16="http://schemas.microsoft.com/office/drawing/2014/main" id="{B117FA3B-2C71-D43C-EB8D-BF34A550657D}"/>
              </a:ext>
            </a:extLst>
          </p:cNvPr>
          <p:cNvSpPr/>
          <p:nvPr/>
        </p:nvSpPr>
        <p:spPr>
          <a:xfrm>
            <a:off x="6244848" y="2617048"/>
            <a:ext cx="557148" cy="99568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Key</a:t>
            </a:r>
          </a:p>
        </p:txBody>
      </p:sp>
      <p:sp>
        <p:nvSpPr>
          <p:cNvPr id="1037" name="Rectangle: Rounded Corners 1036">
            <a:extLst>
              <a:ext uri="{FF2B5EF4-FFF2-40B4-BE49-F238E27FC236}">
                <a16:creationId xmlns:a16="http://schemas.microsoft.com/office/drawing/2014/main" id="{479B8D07-A3D7-2ED8-7454-5E417606A82F}"/>
              </a:ext>
            </a:extLst>
          </p:cNvPr>
          <p:cNvSpPr/>
          <p:nvPr/>
        </p:nvSpPr>
        <p:spPr>
          <a:xfrm>
            <a:off x="6235584" y="1516720"/>
            <a:ext cx="557148" cy="99568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Value</a:t>
            </a:r>
          </a:p>
        </p:txBody>
      </p:sp>
      <p:cxnSp>
        <p:nvCxnSpPr>
          <p:cNvPr id="1039" name="Straight Arrow Connector 1038">
            <a:extLst>
              <a:ext uri="{FF2B5EF4-FFF2-40B4-BE49-F238E27FC236}">
                <a16:creationId xmlns:a16="http://schemas.microsoft.com/office/drawing/2014/main" id="{437325C9-2F33-4AC2-517B-57EAA3A83C82}"/>
              </a:ext>
            </a:extLst>
          </p:cNvPr>
          <p:cNvCxnSpPr>
            <a:cxnSpLocks/>
          </p:cNvCxnSpPr>
          <p:nvPr/>
        </p:nvCxnSpPr>
        <p:spPr>
          <a:xfrm>
            <a:off x="8726615" y="415376"/>
            <a:ext cx="0" cy="4368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0" name="Rectangle: Rounded Corners 1049">
            <a:extLst>
              <a:ext uri="{FF2B5EF4-FFF2-40B4-BE49-F238E27FC236}">
                <a16:creationId xmlns:a16="http://schemas.microsoft.com/office/drawing/2014/main" id="{8ECD438F-EEDB-4497-5305-3E5908DE312C}"/>
              </a:ext>
            </a:extLst>
          </p:cNvPr>
          <p:cNvSpPr/>
          <p:nvPr/>
        </p:nvSpPr>
        <p:spPr>
          <a:xfrm>
            <a:off x="6900672" y="1513672"/>
            <a:ext cx="705996" cy="3195320"/>
          </a:xfrm>
          <a:prstGeom prst="roundRect">
            <a:avLst/>
          </a:prstGeom>
          <a:solidFill>
            <a:srgbClr val="92D050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                                    </a:t>
            </a:r>
            <a:endParaRPr lang="en-US" dirty="0"/>
          </a:p>
          <a:p>
            <a:endParaRPr lang="en-US" dirty="0"/>
          </a:p>
        </p:txBody>
      </p:sp>
      <p:sp>
        <p:nvSpPr>
          <p:cNvPr id="1043" name="Rectangle: Rounded Corners 1042">
            <a:extLst>
              <a:ext uri="{FF2B5EF4-FFF2-40B4-BE49-F238E27FC236}">
                <a16:creationId xmlns:a16="http://schemas.microsoft.com/office/drawing/2014/main" id="{E7E943F0-96E0-603E-8F20-4BA9DD9C058B}"/>
              </a:ext>
            </a:extLst>
          </p:cNvPr>
          <p:cNvSpPr/>
          <p:nvPr/>
        </p:nvSpPr>
        <p:spPr>
          <a:xfrm>
            <a:off x="6976368" y="2617048"/>
            <a:ext cx="557148" cy="99568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Key</a:t>
            </a:r>
          </a:p>
        </p:txBody>
      </p:sp>
      <p:sp>
        <p:nvSpPr>
          <p:cNvPr id="1044" name="Rectangle: Rounded Corners 1043">
            <a:extLst>
              <a:ext uri="{FF2B5EF4-FFF2-40B4-BE49-F238E27FC236}">
                <a16:creationId xmlns:a16="http://schemas.microsoft.com/office/drawing/2014/main" id="{00882F6F-6C9F-C652-C2FD-A59AD80D8DFC}"/>
              </a:ext>
            </a:extLst>
          </p:cNvPr>
          <p:cNvSpPr/>
          <p:nvPr/>
        </p:nvSpPr>
        <p:spPr>
          <a:xfrm>
            <a:off x="6976248" y="1516720"/>
            <a:ext cx="557148" cy="99568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Value</a:t>
            </a:r>
          </a:p>
        </p:txBody>
      </p:sp>
      <p:sp>
        <p:nvSpPr>
          <p:cNvPr id="1034" name="Rectangle: Rounded Corners 1033">
            <a:extLst>
              <a:ext uri="{FF2B5EF4-FFF2-40B4-BE49-F238E27FC236}">
                <a16:creationId xmlns:a16="http://schemas.microsoft.com/office/drawing/2014/main" id="{D26C6153-82C0-485F-BB4E-55D48A2CDB91}"/>
              </a:ext>
            </a:extLst>
          </p:cNvPr>
          <p:cNvSpPr/>
          <p:nvPr/>
        </p:nvSpPr>
        <p:spPr>
          <a:xfrm>
            <a:off x="6971802" y="3700104"/>
            <a:ext cx="557148" cy="995680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Query 2 </a:t>
            </a:r>
          </a:p>
        </p:txBody>
      </p:sp>
      <p:sp>
        <p:nvSpPr>
          <p:cNvPr id="1051" name="Rectangle: Rounded Corners 1050">
            <a:extLst>
              <a:ext uri="{FF2B5EF4-FFF2-40B4-BE49-F238E27FC236}">
                <a16:creationId xmlns:a16="http://schemas.microsoft.com/office/drawing/2014/main" id="{67B9F994-60AC-D22D-CCB4-DA1131D305B1}"/>
              </a:ext>
            </a:extLst>
          </p:cNvPr>
          <p:cNvSpPr/>
          <p:nvPr/>
        </p:nvSpPr>
        <p:spPr>
          <a:xfrm>
            <a:off x="7633208" y="1547200"/>
            <a:ext cx="705996" cy="3195320"/>
          </a:xfrm>
          <a:prstGeom prst="roundRect">
            <a:avLst/>
          </a:prstGeom>
          <a:solidFill>
            <a:srgbClr val="FFC000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                                    </a:t>
            </a:r>
            <a:endParaRPr lang="en-US" dirty="0"/>
          </a:p>
          <a:p>
            <a:endParaRPr lang="en-US" dirty="0"/>
          </a:p>
        </p:txBody>
      </p:sp>
      <p:sp>
        <p:nvSpPr>
          <p:cNvPr id="1046" name="Rectangle: Rounded Corners 1045">
            <a:extLst>
              <a:ext uri="{FF2B5EF4-FFF2-40B4-BE49-F238E27FC236}">
                <a16:creationId xmlns:a16="http://schemas.microsoft.com/office/drawing/2014/main" id="{5292409B-5666-38E5-8F95-1A578BEC22DB}"/>
              </a:ext>
            </a:extLst>
          </p:cNvPr>
          <p:cNvSpPr/>
          <p:nvPr/>
        </p:nvSpPr>
        <p:spPr>
          <a:xfrm>
            <a:off x="7686432" y="1541104"/>
            <a:ext cx="557148" cy="99568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Value</a:t>
            </a:r>
          </a:p>
        </p:txBody>
      </p:sp>
      <p:sp>
        <p:nvSpPr>
          <p:cNvPr id="1045" name="Rectangle: Rounded Corners 1044">
            <a:extLst>
              <a:ext uri="{FF2B5EF4-FFF2-40B4-BE49-F238E27FC236}">
                <a16:creationId xmlns:a16="http://schemas.microsoft.com/office/drawing/2014/main" id="{D4477602-EC48-77EB-324B-2ECD86841DF5}"/>
              </a:ext>
            </a:extLst>
          </p:cNvPr>
          <p:cNvSpPr/>
          <p:nvPr/>
        </p:nvSpPr>
        <p:spPr>
          <a:xfrm>
            <a:off x="7695696" y="2641432"/>
            <a:ext cx="557148" cy="99568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Key</a:t>
            </a:r>
          </a:p>
        </p:txBody>
      </p:sp>
      <p:sp>
        <p:nvSpPr>
          <p:cNvPr id="1035" name="Rectangle: Rounded Corners 1034">
            <a:extLst>
              <a:ext uri="{FF2B5EF4-FFF2-40B4-BE49-F238E27FC236}">
                <a16:creationId xmlns:a16="http://schemas.microsoft.com/office/drawing/2014/main" id="{B6685DE8-C35B-2BAD-9513-AFEC4F276BD6}"/>
              </a:ext>
            </a:extLst>
          </p:cNvPr>
          <p:cNvSpPr/>
          <p:nvPr/>
        </p:nvSpPr>
        <p:spPr>
          <a:xfrm>
            <a:off x="7703863" y="3728552"/>
            <a:ext cx="557148" cy="995680"/>
          </a:xfrm>
          <a:prstGeom prst="roundRect">
            <a:avLst/>
          </a:prstGeom>
          <a:solidFill>
            <a:schemeClr val="accent6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Query 3 </a:t>
            </a:r>
          </a:p>
        </p:txBody>
      </p:sp>
      <p:sp>
        <p:nvSpPr>
          <p:cNvPr id="1052" name="Rectangle: Rounded Corners 1051">
            <a:extLst>
              <a:ext uri="{FF2B5EF4-FFF2-40B4-BE49-F238E27FC236}">
                <a16:creationId xmlns:a16="http://schemas.microsoft.com/office/drawing/2014/main" id="{E572D58C-9EC6-C5A6-A6A6-132910326D72}"/>
              </a:ext>
            </a:extLst>
          </p:cNvPr>
          <p:cNvSpPr/>
          <p:nvPr/>
        </p:nvSpPr>
        <p:spPr>
          <a:xfrm>
            <a:off x="10419588" y="1542120"/>
            <a:ext cx="705996" cy="3195320"/>
          </a:xfrm>
          <a:prstGeom prst="roundRect">
            <a:avLst/>
          </a:prstGeom>
          <a:solidFill>
            <a:srgbClr val="00B0F0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                                    </a:t>
            </a:r>
            <a:endParaRPr lang="en-US" dirty="0"/>
          </a:p>
          <a:p>
            <a:endParaRPr lang="en-US" dirty="0"/>
          </a:p>
        </p:txBody>
      </p:sp>
      <p:sp>
        <p:nvSpPr>
          <p:cNvPr id="1049" name="Rectangle: Rounded Corners 1048">
            <a:extLst>
              <a:ext uri="{FF2B5EF4-FFF2-40B4-BE49-F238E27FC236}">
                <a16:creationId xmlns:a16="http://schemas.microsoft.com/office/drawing/2014/main" id="{52A4DCCF-131F-1071-690F-A4CE1D0A7652}"/>
              </a:ext>
            </a:extLst>
          </p:cNvPr>
          <p:cNvSpPr/>
          <p:nvPr/>
        </p:nvSpPr>
        <p:spPr>
          <a:xfrm>
            <a:off x="10472304" y="1547200"/>
            <a:ext cx="557148" cy="99568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Value</a:t>
            </a:r>
          </a:p>
        </p:txBody>
      </p:sp>
      <p:sp>
        <p:nvSpPr>
          <p:cNvPr id="1048" name="Rectangle: Rounded Corners 1047">
            <a:extLst>
              <a:ext uri="{FF2B5EF4-FFF2-40B4-BE49-F238E27FC236}">
                <a16:creationId xmlns:a16="http://schemas.microsoft.com/office/drawing/2014/main" id="{D16E03E1-C3C4-8654-EBBB-233824CF1F94}"/>
              </a:ext>
            </a:extLst>
          </p:cNvPr>
          <p:cNvSpPr/>
          <p:nvPr/>
        </p:nvSpPr>
        <p:spPr>
          <a:xfrm>
            <a:off x="10481568" y="2647528"/>
            <a:ext cx="557148" cy="99568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Key</a:t>
            </a:r>
          </a:p>
        </p:txBody>
      </p:sp>
      <p:sp>
        <p:nvSpPr>
          <p:cNvPr id="1047" name="Rectangle: Rounded Corners 1046">
            <a:extLst>
              <a:ext uri="{FF2B5EF4-FFF2-40B4-BE49-F238E27FC236}">
                <a16:creationId xmlns:a16="http://schemas.microsoft.com/office/drawing/2014/main" id="{EE84B257-4D22-7735-14B6-5321F3FCD941}"/>
              </a:ext>
            </a:extLst>
          </p:cNvPr>
          <p:cNvSpPr/>
          <p:nvPr/>
        </p:nvSpPr>
        <p:spPr>
          <a:xfrm>
            <a:off x="10471447" y="3734648"/>
            <a:ext cx="557148" cy="99568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Query 24 </a:t>
            </a:r>
          </a:p>
        </p:txBody>
      </p:sp>
      <p:sp>
        <p:nvSpPr>
          <p:cNvPr id="1053" name="Title 3">
            <a:extLst>
              <a:ext uri="{FF2B5EF4-FFF2-40B4-BE49-F238E27FC236}">
                <a16:creationId xmlns:a16="http://schemas.microsoft.com/office/drawing/2014/main" id="{EC3AE610-39AA-1BF7-3DCD-207BDDE94511}"/>
              </a:ext>
            </a:extLst>
          </p:cNvPr>
          <p:cNvSpPr txBox="1">
            <a:spLocks/>
          </p:cNvSpPr>
          <p:nvPr/>
        </p:nvSpPr>
        <p:spPr>
          <a:xfrm>
            <a:off x="731519" y="534224"/>
            <a:ext cx="4701715" cy="61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Multi-head self attention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54" name="TextBox 1053">
                <a:extLst>
                  <a:ext uri="{FF2B5EF4-FFF2-40B4-BE49-F238E27FC236}">
                    <a16:creationId xmlns:a16="http://schemas.microsoft.com/office/drawing/2014/main" id="{94D9A779-DC60-111A-DCD9-81E7BEB7C3B9}"/>
                  </a:ext>
                </a:extLst>
              </p:cNvPr>
              <p:cNvSpPr txBox="1"/>
              <p:nvPr/>
            </p:nvSpPr>
            <p:spPr>
              <a:xfrm>
                <a:off x="1066565" y="5572289"/>
                <a:ext cx="4062651" cy="7159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𝐴𝑡𝑡𝑒𝑛𝑡𝑖𝑜𝑛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54" name="TextBox 1053">
                <a:extLst>
                  <a:ext uri="{FF2B5EF4-FFF2-40B4-BE49-F238E27FC236}">
                    <a16:creationId xmlns:a16="http://schemas.microsoft.com/office/drawing/2014/main" id="{94D9A779-DC60-111A-DCD9-81E7BEB7C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565" y="5572289"/>
                <a:ext cx="4062651" cy="7159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8364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772386A9-4E6D-C953-3157-33AC9F34FBE9}"/>
              </a:ext>
            </a:extLst>
          </p:cNvPr>
          <p:cNvCxnSpPr>
            <a:cxnSpLocks/>
          </p:cNvCxnSpPr>
          <p:nvPr/>
        </p:nvCxnSpPr>
        <p:spPr>
          <a:xfrm>
            <a:off x="8173720" y="6065520"/>
            <a:ext cx="0" cy="4368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93068E8-C13D-81A3-5BA8-2422A5DA4D60}"/>
              </a:ext>
            </a:extLst>
          </p:cNvPr>
          <p:cNvSpPr/>
          <p:nvPr/>
        </p:nvSpPr>
        <p:spPr>
          <a:xfrm>
            <a:off x="4429760" y="1139091"/>
            <a:ext cx="7152640" cy="5099149"/>
          </a:xfrm>
          <a:prstGeom prst="roundRect">
            <a:avLst>
              <a:gd name="adj" fmla="val 3080"/>
            </a:avLst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         ………</a:t>
            </a:r>
          </a:p>
        </p:txBody>
      </p:sp>
      <p:sp>
        <p:nvSpPr>
          <p:cNvPr id="67" name="Title 3">
            <a:extLst>
              <a:ext uri="{FF2B5EF4-FFF2-40B4-BE49-F238E27FC236}">
                <a16:creationId xmlns:a16="http://schemas.microsoft.com/office/drawing/2014/main" id="{D60FC29B-61E4-04F6-E9D7-5841AED71576}"/>
              </a:ext>
            </a:extLst>
          </p:cNvPr>
          <p:cNvSpPr txBox="1">
            <a:spLocks/>
          </p:cNvSpPr>
          <p:nvPr/>
        </p:nvSpPr>
        <p:spPr>
          <a:xfrm>
            <a:off x="731519" y="499494"/>
            <a:ext cx="5003801" cy="7411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Multi-head self attention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135AECE-150A-EC5F-FCD9-CA7EC2644C39}"/>
              </a:ext>
            </a:extLst>
          </p:cNvPr>
          <p:cNvSpPr/>
          <p:nvPr/>
        </p:nvSpPr>
        <p:spPr>
          <a:xfrm>
            <a:off x="4592320" y="1210694"/>
            <a:ext cx="6766560" cy="508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Split into heads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21A1119-0400-CD52-45A0-C48BBE9726F7}"/>
              </a:ext>
            </a:extLst>
          </p:cNvPr>
          <p:cNvGrpSpPr/>
          <p:nvPr/>
        </p:nvGrpSpPr>
        <p:grpSpPr>
          <a:xfrm>
            <a:off x="8442960" y="2468880"/>
            <a:ext cx="2956560" cy="2499360"/>
            <a:chOff x="2438400" y="2560320"/>
            <a:chExt cx="2956560" cy="2499360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114046A-6D3C-5489-CF9B-509E0FDD042B}"/>
                </a:ext>
              </a:extLst>
            </p:cNvPr>
            <p:cNvSpPr/>
            <p:nvPr/>
          </p:nvSpPr>
          <p:spPr>
            <a:xfrm>
              <a:off x="2438400" y="2560320"/>
              <a:ext cx="2956560" cy="2499360"/>
            </a:xfrm>
            <a:prstGeom prst="roundRect">
              <a:avLst/>
            </a:prstGeom>
            <a:solidFill>
              <a:srgbClr val="FFFF00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chemeClr val="tx1"/>
                  </a:solidFill>
                </a:rPr>
                <a:t>GROUP 8</a:t>
              </a:r>
            </a:p>
            <a:p>
              <a:endParaRPr lang="en-US" dirty="0"/>
            </a:p>
            <a:p>
              <a:endParaRPr lang="en-US" dirty="0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EE28F46F-4AAF-B345-3915-EBFF9BC49228}"/>
                </a:ext>
              </a:extLst>
            </p:cNvPr>
            <p:cNvSpPr/>
            <p:nvPr/>
          </p:nvSpPr>
          <p:spPr>
            <a:xfrm>
              <a:off x="2753360" y="3820160"/>
              <a:ext cx="701040" cy="995680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Query 22 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E622EF23-7CDA-B666-DD8D-401B7F6E5EF1}"/>
                </a:ext>
              </a:extLst>
            </p:cNvPr>
            <p:cNvSpPr/>
            <p:nvPr/>
          </p:nvSpPr>
          <p:spPr>
            <a:xfrm>
              <a:off x="3627120" y="3810000"/>
              <a:ext cx="701040" cy="995680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Query 23 </a:t>
              </a: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C62F0B2E-FD67-B4D6-0685-154E1A413631}"/>
                </a:ext>
              </a:extLst>
            </p:cNvPr>
            <p:cNvSpPr/>
            <p:nvPr/>
          </p:nvSpPr>
          <p:spPr>
            <a:xfrm>
              <a:off x="4490720" y="3820160"/>
              <a:ext cx="701040" cy="995680"/>
            </a:xfrm>
            <a:prstGeom prst="round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Query 24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59E52841-093E-DB3B-2EA8-7FDE35AFDB1A}"/>
                </a:ext>
              </a:extLst>
            </p:cNvPr>
            <p:cNvSpPr/>
            <p:nvPr/>
          </p:nvSpPr>
          <p:spPr>
            <a:xfrm>
              <a:off x="3581400" y="2626360"/>
              <a:ext cx="701040" cy="99568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Key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3C64C158-0184-EDD3-9C33-19B537712362}"/>
                </a:ext>
              </a:extLst>
            </p:cNvPr>
            <p:cNvSpPr/>
            <p:nvPr/>
          </p:nvSpPr>
          <p:spPr>
            <a:xfrm>
              <a:off x="4490720" y="2636520"/>
              <a:ext cx="701040" cy="995680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Value</a:t>
              </a:r>
            </a:p>
          </p:txBody>
        </p:sp>
      </p:grp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7E013E5-8EDE-8C74-C43B-524DF902B559}"/>
              </a:ext>
            </a:extLst>
          </p:cNvPr>
          <p:cNvSpPr/>
          <p:nvPr/>
        </p:nvSpPr>
        <p:spPr>
          <a:xfrm>
            <a:off x="4592320" y="5059680"/>
            <a:ext cx="6766560" cy="5080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Concatenate output of all head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9EB8C51-CCA1-AB76-B9B6-731C473D0F98}"/>
              </a:ext>
            </a:extLst>
          </p:cNvPr>
          <p:cNvSpPr/>
          <p:nvPr/>
        </p:nvSpPr>
        <p:spPr>
          <a:xfrm>
            <a:off x="4602480" y="5699760"/>
            <a:ext cx="6766560" cy="5080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Out projection [3072 x 3072] 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F382F9D-E26E-54A6-8FF0-8C732422F420}"/>
              </a:ext>
            </a:extLst>
          </p:cNvPr>
          <p:cNvSpPr/>
          <p:nvPr/>
        </p:nvSpPr>
        <p:spPr>
          <a:xfrm>
            <a:off x="4592320" y="1832101"/>
            <a:ext cx="6766560" cy="508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To QKV [3072 x 5120]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279377D-9876-CB45-DB88-A243D35018EE}"/>
              </a:ext>
            </a:extLst>
          </p:cNvPr>
          <p:cNvSpPr/>
          <p:nvPr/>
        </p:nvSpPr>
        <p:spPr>
          <a:xfrm>
            <a:off x="4592320" y="2458720"/>
            <a:ext cx="2956560" cy="2499360"/>
          </a:xfrm>
          <a:prstGeom prst="roundRect">
            <a:avLst/>
          </a:prstGeom>
          <a:solidFill>
            <a:srgbClr val="FF3399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                                    GROUP 1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9FCCC32-94C5-C741-9BA3-9B42E94406DB}"/>
              </a:ext>
            </a:extLst>
          </p:cNvPr>
          <p:cNvSpPr/>
          <p:nvPr/>
        </p:nvSpPr>
        <p:spPr>
          <a:xfrm>
            <a:off x="4907280" y="3718560"/>
            <a:ext cx="701040" cy="995680"/>
          </a:xfrm>
          <a:prstGeom prst="roundRect">
            <a:avLst/>
          </a:prstGeom>
          <a:solidFill>
            <a:schemeClr val="accent6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Query 1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1CE79C2-1E7E-2DE3-7696-CF7980FB0100}"/>
              </a:ext>
            </a:extLst>
          </p:cNvPr>
          <p:cNvSpPr/>
          <p:nvPr/>
        </p:nvSpPr>
        <p:spPr>
          <a:xfrm>
            <a:off x="5781040" y="3708400"/>
            <a:ext cx="701040" cy="995680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Query 2 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B64F7E3-543E-DE90-4AAB-CBC1646CE3EF}"/>
              </a:ext>
            </a:extLst>
          </p:cNvPr>
          <p:cNvSpPr/>
          <p:nvPr/>
        </p:nvSpPr>
        <p:spPr>
          <a:xfrm>
            <a:off x="6644640" y="3718560"/>
            <a:ext cx="701040" cy="995680"/>
          </a:xfrm>
          <a:prstGeom prst="roundRect">
            <a:avLst/>
          </a:prstGeom>
          <a:solidFill>
            <a:schemeClr val="accent6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Query 3 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01EC196-B2ED-24DE-B44B-7167AA22F1C1}"/>
              </a:ext>
            </a:extLst>
          </p:cNvPr>
          <p:cNvSpPr/>
          <p:nvPr/>
        </p:nvSpPr>
        <p:spPr>
          <a:xfrm>
            <a:off x="4912360" y="2524760"/>
            <a:ext cx="701040" cy="99568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Key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9B90C61-C08D-9533-88EF-C046A315B5AB}"/>
              </a:ext>
            </a:extLst>
          </p:cNvPr>
          <p:cNvSpPr/>
          <p:nvPr/>
        </p:nvSpPr>
        <p:spPr>
          <a:xfrm>
            <a:off x="5735320" y="2534920"/>
            <a:ext cx="701040" cy="99568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Value</a:t>
            </a: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3E330FE3-CE07-4F08-3827-F0F13952E6DE}"/>
              </a:ext>
            </a:extLst>
          </p:cNvPr>
          <p:cNvSpPr/>
          <p:nvPr/>
        </p:nvSpPr>
        <p:spPr>
          <a:xfrm>
            <a:off x="4826000" y="2529840"/>
            <a:ext cx="1635760" cy="2245360"/>
          </a:xfrm>
          <a:custGeom>
            <a:avLst/>
            <a:gdLst>
              <a:gd name="connsiteX0" fmla="*/ 40640 w 1737360"/>
              <a:gd name="connsiteY0" fmla="*/ 50800 h 2377440"/>
              <a:gd name="connsiteX1" fmla="*/ 20320 w 1737360"/>
              <a:gd name="connsiteY1" fmla="*/ 2367280 h 2377440"/>
              <a:gd name="connsiteX2" fmla="*/ 863600 w 1737360"/>
              <a:gd name="connsiteY2" fmla="*/ 2377440 h 2377440"/>
              <a:gd name="connsiteX3" fmla="*/ 863600 w 1737360"/>
              <a:gd name="connsiteY3" fmla="*/ 1137920 h 2377440"/>
              <a:gd name="connsiteX4" fmla="*/ 1737360 w 1737360"/>
              <a:gd name="connsiteY4" fmla="*/ 1127760 h 2377440"/>
              <a:gd name="connsiteX5" fmla="*/ 1717040 w 1737360"/>
              <a:gd name="connsiteY5" fmla="*/ 0 h 2377440"/>
              <a:gd name="connsiteX6" fmla="*/ 0 w 1737360"/>
              <a:gd name="connsiteY6" fmla="*/ 20320 h 2377440"/>
              <a:gd name="connsiteX7" fmla="*/ 40640 w 1737360"/>
              <a:gd name="connsiteY7" fmla="*/ 50800 h 2377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360" h="2377440">
                <a:moveTo>
                  <a:pt x="40640" y="50800"/>
                </a:moveTo>
                <a:lnTo>
                  <a:pt x="20320" y="2367280"/>
                </a:lnTo>
                <a:lnTo>
                  <a:pt x="863600" y="2377440"/>
                </a:lnTo>
                <a:lnTo>
                  <a:pt x="863600" y="1137920"/>
                </a:lnTo>
                <a:lnTo>
                  <a:pt x="1737360" y="1127760"/>
                </a:lnTo>
                <a:lnTo>
                  <a:pt x="1717040" y="0"/>
                </a:lnTo>
                <a:lnTo>
                  <a:pt x="0" y="20320"/>
                </a:lnTo>
                <a:lnTo>
                  <a:pt x="40640" y="50800"/>
                </a:lnTo>
                <a:close/>
              </a:path>
            </a:pathLst>
          </a:custGeom>
          <a:solidFill>
            <a:srgbClr val="7030A0">
              <a:alpha val="17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Head 1               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02A20A11-FE9A-574F-3D91-E321DC03C3EA}"/>
              </a:ext>
            </a:extLst>
          </p:cNvPr>
          <p:cNvSpPr/>
          <p:nvPr/>
        </p:nvSpPr>
        <p:spPr>
          <a:xfrm>
            <a:off x="568960" y="1596542"/>
            <a:ext cx="3220720" cy="508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5120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EEF796E8-0C39-AD1F-5A1E-9316ABC769B3}"/>
              </a:ext>
            </a:extLst>
          </p:cNvPr>
          <p:cNvSpPr/>
          <p:nvPr/>
        </p:nvSpPr>
        <p:spPr>
          <a:xfrm>
            <a:off x="589280" y="2307742"/>
            <a:ext cx="1910080" cy="508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3072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1392CED9-0357-1894-C4C6-4DBFF622076E}"/>
              </a:ext>
            </a:extLst>
          </p:cNvPr>
          <p:cNvSpPr/>
          <p:nvPr/>
        </p:nvSpPr>
        <p:spPr>
          <a:xfrm>
            <a:off x="2499360" y="2307742"/>
            <a:ext cx="1290320" cy="508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2048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210F88BB-7794-847D-C9CA-D099AA3859E9}"/>
              </a:ext>
            </a:extLst>
          </p:cNvPr>
          <p:cNvSpPr/>
          <p:nvPr/>
        </p:nvSpPr>
        <p:spPr>
          <a:xfrm>
            <a:off x="721360" y="4034942"/>
            <a:ext cx="193040" cy="508000"/>
          </a:xfrm>
          <a:prstGeom prst="roundRect">
            <a:avLst/>
          </a:prstGeom>
          <a:solidFill>
            <a:srgbClr val="AADC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128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AC95B0FC-BC98-BE45-74D7-F68DDC3A78A5}"/>
              </a:ext>
            </a:extLst>
          </p:cNvPr>
          <p:cNvSpPr/>
          <p:nvPr/>
        </p:nvSpPr>
        <p:spPr>
          <a:xfrm>
            <a:off x="955040" y="4034942"/>
            <a:ext cx="193040" cy="508000"/>
          </a:xfrm>
          <a:prstGeom prst="roundRect">
            <a:avLst/>
          </a:prstGeom>
          <a:solidFill>
            <a:srgbClr val="00F2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128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F257F547-0486-5324-BCD0-C8CA9E298595}"/>
              </a:ext>
            </a:extLst>
          </p:cNvPr>
          <p:cNvSpPr/>
          <p:nvPr/>
        </p:nvSpPr>
        <p:spPr>
          <a:xfrm>
            <a:off x="2418080" y="3090062"/>
            <a:ext cx="701040" cy="508000"/>
          </a:xfrm>
          <a:prstGeom prst="roundRect">
            <a:avLst/>
          </a:prstGeom>
          <a:solidFill>
            <a:srgbClr val="C0B3C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1024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1BBC2DA8-16C8-22FF-CE94-5977C91C4DD0}"/>
              </a:ext>
            </a:extLst>
          </p:cNvPr>
          <p:cNvSpPr/>
          <p:nvPr/>
        </p:nvSpPr>
        <p:spPr>
          <a:xfrm>
            <a:off x="3119120" y="3079902"/>
            <a:ext cx="680720" cy="508000"/>
          </a:xfrm>
          <a:prstGeom prst="roundRect">
            <a:avLst/>
          </a:prstGeom>
          <a:solidFill>
            <a:srgbClr val="E7CA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1024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091CC9F3-64E9-A2AF-D926-78CD3BBD6FFF}"/>
              </a:ext>
            </a:extLst>
          </p:cNvPr>
          <p:cNvSpPr/>
          <p:nvPr/>
        </p:nvSpPr>
        <p:spPr>
          <a:xfrm>
            <a:off x="1198880" y="4034942"/>
            <a:ext cx="193040" cy="508000"/>
          </a:xfrm>
          <a:prstGeom prst="roundRect">
            <a:avLst/>
          </a:prstGeom>
          <a:solidFill>
            <a:srgbClr val="0079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128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AAA60737-B0A3-EB9A-C9AE-B4CF58433323}"/>
              </a:ext>
            </a:extLst>
          </p:cNvPr>
          <p:cNvSpPr/>
          <p:nvPr/>
        </p:nvSpPr>
        <p:spPr>
          <a:xfrm>
            <a:off x="2458720" y="4055262"/>
            <a:ext cx="193040" cy="508000"/>
          </a:xfrm>
          <a:prstGeom prst="roundRect">
            <a:avLst/>
          </a:prstGeom>
          <a:solidFill>
            <a:srgbClr val="C0B3C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AB3F70B5-1447-E6BE-E7F1-B1F1110CA8D4}"/>
              </a:ext>
            </a:extLst>
          </p:cNvPr>
          <p:cNvSpPr/>
          <p:nvPr/>
        </p:nvSpPr>
        <p:spPr>
          <a:xfrm>
            <a:off x="2692400" y="4055262"/>
            <a:ext cx="193040" cy="508000"/>
          </a:xfrm>
          <a:prstGeom prst="roundRect">
            <a:avLst/>
          </a:prstGeom>
          <a:solidFill>
            <a:srgbClr val="C0B3C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E085929B-91ED-1562-31F5-EF6BBE23C5B5}"/>
              </a:ext>
            </a:extLst>
          </p:cNvPr>
          <p:cNvSpPr/>
          <p:nvPr/>
        </p:nvSpPr>
        <p:spPr>
          <a:xfrm>
            <a:off x="2936240" y="4055262"/>
            <a:ext cx="193040" cy="508000"/>
          </a:xfrm>
          <a:prstGeom prst="roundRect">
            <a:avLst/>
          </a:prstGeom>
          <a:solidFill>
            <a:srgbClr val="C0B3C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92C0FF91-FFC1-F00F-9915-66E48C4EFB42}"/>
              </a:ext>
            </a:extLst>
          </p:cNvPr>
          <p:cNvSpPr/>
          <p:nvPr/>
        </p:nvSpPr>
        <p:spPr>
          <a:xfrm>
            <a:off x="3230880" y="4055262"/>
            <a:ext cx="193040" cy="508000"/>
          </a:xfrm>
          <a:prstGeom prst="roundRect">
            <a:avLst/>
          </a:prstGeom>
          <a:solidFill>
            <a:srgbClr val="E7CA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01D950D2-C807-E518-66E1-3389DADB646B}"/>
              </a:ext>
            </a:extLst>
          </p:cNvPr>
          <p:cNvSpPr/>
          <p:nvPr/>
        </p:nvSpPr>
        <p:spPr>
          <a:xfrm>
            <a:off x="3464560" y="4055262"/>
            <a:ext cx="193040" cy="508000"/>
          </a:xfrm>
          <a:prstGeom prst="roundRect">
            <a:avLst/>
          </a:prstGeom>
          <a:solidFill>
            <a:srgbClr val="E7CA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BD3C4669-F496-915E-8FDF-B8C4F57D329C}"/>
              </a:ext>
            </a:extLst>
          </p:cNvPr>
          <p:cNvSpPr/>
          <p:nvPr/>
        </p:nvSpPr>
        <p:spPr>
          <a:xfrm>
            <a:off x="3708400" y="4055262"/>
            <a:ext cx="193040" cy="508000"/>
          </a:xfrm>
          <a:prstGeom prst="roundRect">
            <a:avLst/>
          </a:prstGeom>
          <a:solidFill>
            <a:srgbClr val="E7CA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6DA2A2AD-6D01-A478-0C7E-544DDB43930E}"/>
              </a:ext>
            </a:extLst>
          </p:cNvPr>
          <p:cNvSpPr/>
          <p:nvPr/>
        </p:nvSpPr>
        <p:spPr>
          <a:xfrm>
            <a:off x="1473200" y="4034942"/>
            <a:ext cx="193040" cy="508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128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E52A627A-EC2B-A41D-D0EF-9B1676B804D4}"/>
              </a:ext>
            </a:extLst>
          </p:cNvPr>
          <p:cNvSpPr/>
          <p:nvPr/>
        </p:nvSpPr>
        <p:spPr>
          <a:xfrm>
            <a:off x="1706880" y="4034942"/>
            <a:ext cx="193040" cy="50800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E281F202-305D-1FF3-4F2B-CBE733480F15}"/>
              </a:ext>
            </a:extLst>
          </p:cNvPr>
          <p:cNvSpPr/>
          <p:nvPr/>
        </p:nvSpPr>
        <p:spPr>
          <a:xfrm>
            <a:off x="1950720" y="4034942"/>
            <a:ext cx="193040" cy="5080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B4842DB1-2BB6-39A8-10A0-93BCF2032019}"/>
              </a:ext>
            </a:extLst>
          </p:cNvPr>
          <p:cNvCxnSpPr>
            <a:endCxn id="68" idx="0"/>
          </p:cNvCxnSpPr>
          <p:nvPr/>
        </p:nvCxnSpPr>
        <p:spPr>
          <a:xfrm flipH="1">
            <a:off x="721360" y="2815742"/>
            <a:ext cx="233680" cy="1239520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3ACF646-924B-7E98-C3AC-86567972C52B}"/>
              </a:ext>
            </a:extLst>
          </p:cNvPr>
          <p:cNvCxnSpPr>
            <a:cxnSpLocks/>
          </p:cNvCxnSpPr>
          <p:nvPr/>
        </p:nvCxnSpPr>
        <p:spPr>
          <a:xfrm>
            <a:off x="2011680" y="2815742"/>
            <a:ext cx="132080" cy="1330960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BFE1614B-0AEC-0452-B26E-A8B06C11B14A}"/>
              </a:ext>
            </a:extLst>
          </p:cNvPr>
          <p:cNvCxnSpPr>
            <a:cxnSpLocks/>
          </p:cNvCxnSpPr>
          <p:nvPr/>
        </p:nvCxnSpPr>
        <p:spPr>
          <a:xfrm flipH="1">
            <a:off x="2418080" y="3526942"/>
            <a:ext cx="91440" cy="528320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B35E97C0-49D2-B2CD-4433-5A23209C796B}"/>
              </a:ext>
            </a:extLst>
          </p:cNvPr>
          <p:cNvCxnSpPr>
            <a:cxnSpLocks/>
          </p:cNvCxnSpPr>
          <p:nvPr/>
        </p:nvCxnSpPr>
        <p:spPr>
          <a:xfrm>
            <a:off x="3119120" y="3587902"/>
            <a:ext cx="10160" cy="558800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1133FFF3-026D-2FE7-A1CB-53230CFF8951}"/>
              </a:ext>
            </a:extLst>
          </p:cNvPr>
          <p:cNvSpPr txBox="1"/>
          <p:nvPr/>
        </p:nvSpPr>
        <p:spPr>
          <a:xfrm>
            <a:off x="914400" y="3689502"/>
            <a:ext cx="129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24 Query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4B77789-ABCB-33C0-FE56-F0792480FB9B}"/>
              </a:ext>
            </a:extLst>
          </p:cNvPr>
          <p:cNvSpPr txBox="1"/>
          <p:nvPr/>
        </p:nvSpPr>
        <p:spPr>
          <a:xfrm>
            <a:off x="2479040" y="3679342"/>
            <a:ext cx="86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 Key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0A0163C9-87E4-286D-3489-2586E5A4BCFE}"/>
              </a:ext>
            </a:extLst>
          </p:cNvPr>
          <p:cNvCxnSpPr>
            <a:cxnSpLocks/>
          </p:cNvCxnSpPr>
          <p:nvPr/>
        </p:nvCxnSpPr>
        <p:spPr>
          <a:xfrm>
            <a:off x="3870960" y="3526942"/>
            <a:ext cx="60960" cy="599440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08FE0C9B-657D-BC21-197C-0976DCB1FD21}"/>
              </a:ext>
            </a:extLst>
          </p:cNvPr>
          <p:cNvSpPr txBox="1"/>
          <p:nvPr/>
        </p:nvSpPr>
        <p:spPr>
          <a:xfrm>
            <a:off x="3139440" y="3679342"/>
            <a:ext cx="86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 Value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21D1B0D6-FE98-732B-18E0-74743FC1FDF5}"/>
              </a:ext>
            </a:extLst>
          </p:cNvPr>
          <p:cNvCxnSpPr>
            <a:cxnSpLocks/>
          </p:cNvCxnSpPr>
          <p:nvPr/>
        </p:nvCxnSpPr>
        <p:spPr>
          <a:xfrm>
            <a:off x="8173720" y="670560"/>
            <a:ext cx="0" cy="4368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83E577EF-67D4-DF00-10CD-6EE825A3AE09}"/>
              </a:ext>
            </a:extLst>
          </p:cNvPr>
          <p:cNvSpPr txBox="1"/>
          <p:nvPr/>
        </p:nvSpPr>
        <p:spPr>
          <a:xfrm>
            <a:off x="731520" y="4694156"/>
            <a:ext cx="35153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Reducing KV cache consumption to one third of its standard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Fractional </a:t>
            </a:r>
            <a:r>
              <a:rPr lang="en-US" dirty="0" err="1"/>
              <a:t>RoPE</a:t>
            </a:r>
            <a:r>
              <a:rPr lang="en-US" dirty="0"/>
              <a:t> dimension is used (25% remains position agnostic)</a:t>
            </a:r>
          </a:p>
        </p:txBody>
      </p:sp>
    </p:spTree>
    <p:extLst>
      <p:ext uri="{BB962C8B-B14F-4D97-AF65-F5344CB8AC3E}">
        <p14:creationId xmlns:p14="http://schemas.microsoft.com/office/powerpoint/2010/main" val="3730030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93068E8-C13D-81A3-5BA8-2422A5DA4D60}"/>
              </a:ext>
            </a:extLst>
          </p:cNvPr>
          <p:cNvSpPr/>
          <p:nvPr/>
        </p:nvSpPr>
        <p:spPr>
          <a:xfrm>
            <a:off x="5867400" y="1240691"/>
            <a:ext cx="5354320" cy="4123789"/>
          </a:xfrm>
          <a:prstGeom prst="roundRect">
            <a:avLst>
              <a:gd name="adj" fmla="val 3080"/>
            </a:avLst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7" name="Title 3">
            <a:extLst>
              <a:ext uri="{FF2B5EF4-FFF2-40B4-BE49-F238E27FC236}">
                <a16:creationId xmlns:a16="http://schemas.microsoft.com/office/drawing/2014/main" id="{D60FC29B-61E4-04F6-E9D7-5841AED71576}"/>
              </a:ext>
            </a:extLst>
          </p:cNvPr>
          <p:cNvSpPr txBox="1">
            <a:spLocks/>
          </p:cNvSpPr>
          <p:nvPr/>
        </p:nvSpPr>
        <p:spPr>
          <a:xfrm>
            <a:off x="731520" y="629920"/>
            <a:ext cx="4114800" cy="61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Feed Forward Network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5B94323A-05D5-EB8B-3D08-0D698F055E3F}"/>
              </a:ext>
            </a:extLst>
          </p:cNvPr>
          <p:cNvCxnSpPr>
            <a:cxnSpLocks/>
          </p:cNvCxnSpPr>
          <p:nvPr/>
        </p:nvCxnSpPr>
        <p:spPr>
          <a:xfrm>
            <a:off x="8600440" y="741680"/>
            <a:ext cx="0" cy="4368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99DD34C-0056-F931-67DD-000E1FE7D5AD}"/>
              </a:ext>
            </a:extLst>
          </p:cNvPr>
          <p:cNvSpPr/>
          <p:nvPr/>
        </p:nvSpPr>
        <p:spPr>
          <a:xfrm>
            <a:off x="6289040" y="1371600"/>
            <a:ext cx="4511040" cy="508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 Gate up projection [3072 x 16384]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D81D4AE-6435-D067-CF83-439AB356DD18}"/>
              </a:ext>
            </a:extLst>
          </p:cNvPr>
          <p:cNvSpPr/>
          <p:nvPr/>
        </p:nvSpPr>
        <p:spPr>
          <a:xfrm>
            <a:off x="6289040" y="2143760"/>
            <a:ext cx="2204720" cy="508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8192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C3909D2-7A29-61F6-80C2-530250A077CC}"/>
              </a:ext>
            </a:extLst>
          </p:cNvPr>
          <p:cNvSpPr/>
          <p:nvPr/>
        </p:nvSpPr>
        <p:spPr>
          <a:xfrm>
            <a:off x="8717280" y="2153920"/>
            <a:ext cx="2082800" cy="508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8192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29444A2-662B-E517-197F-265ECF853CBA}"/>
              </a:ext>
            </a:extLst>
          </p:cNvPr>
          <p:cNvSpPr/>
          <p:nvPr/>
        </p:nvSpPr>
        <p:spPr>
          <a:xfrm>
            <a:off x="6289040" y="4358640"/>
            <a:ext cx="4511040" cy="508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 Gate Down projection [8192 x 3072]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36110AA-FD2D-0084-3D9C-888542E038EC}"/>
              </a:ext>
            </a:extLst>
          </p:cNvPr>
          <p:cNvSpPr/>
          <p:nvPr/>
        </p:nvSpPr>
        <p:spPr>
          <a:xfrm>
            <a:off x="7386320" y="3637280"/>
            <a:ext cx="2204720" cy="508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8192</a:t>
            </a:r>
          </a:p>
        </p:txBody>
      </p:sp>
      <p:sp>
        <p:nvSpPr>
          <p:cNvPr id="12" name="Flowchart: Summing Junction 11">
            <a:extLst>
              <a:ext uri="{FF2B5EF4-FFF2-40B4-BE49-F238E27FC236}">
                <a16:creationId xmlns:a16="http://schemas.microsoft.com/office/drawing/2014/main" id="{47B3F09C-37CD-943A-4B85-FABFCAB82468}"/>
              </a:ext>
            </a:extLst>
          </p:cNvPr>
          <p:cNvSpPr/>
          <p:nvPr/>
        </p:nvSpPr>
        <p:spPr>
          <a:xfrm>
            <a:off x="8432800" y="3149600"/>
            <a:ext cx="314960" cy="284480"/>
          </a:xfrm>
          <a:prstGeom prst="flowChartSummingJunction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58362D0-1B1C-72FB-8E5A-0D5CA8F05462}"/>
              </a:ext>
            </a:extLst>
          </p:cNvPr>
          <p:cNvCxnSpPr>
            <a:endCxn id="12" idx="1"/>
          </p:cNvCxnSpPr>
          <p:nvPr/>
        </p:nvCxnSpPr>
        <p:spPr>
          <a:xfrm>
            <a:off x="7386320" y="2661920"/>
            <a:ext cx="1092605" cy="529341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56CF3D7-D1A0-4B21-CC28-EF499DCC1543}"/>
              </a:ext>
            </a:extLst>
          </p:cNvPr>
          <p:cNvCxnSpPr>
            <a:cxnSpLocks/>
            <a:stCxn id="8" idx="2"/>
            <a:endCxn id="12" idx="7"/>
          </p:cNvCxnSpPr>
          <p:nvPr/>
        </p:nvCxnSpPr>
        <p:spPr>
          <a:xfrm flipH="1">
            <a:off x="8701635" y="2661920"/>
            <a:ext cx="1057045" cy="529341"/>
          </a:xfrm>
          <a:prstGeom prst="straightConnector1">
            <a:avLst/>
          </a:prstGeom>
          <a:ln w="222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696E4D7-EBCA-C7C0-39CE-DA285DD18F15}"/>
              </a:ext>
            </a:extLst>
          </p:cNvPr>
          <p:cNvCxnSpPr>
            <a:cxnSpLocks/>
          </p:cNvCxnSpPr>
          <p:nvPr/>
        </p:nvCxnSpPr>
        <p:spPr>
          <a:xfrm>
            <a:off x="8600440" y="5394960"/>
            <a:ext cx="0" cy="4368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D93FAEF-FDB6-94A7-C348-53ACC5CD1FA0}"/>
              </a:ext>
            </a:extLst>
          </p:cNvPr>
          <p:cNvCxnSpPr>
            <a:cxnSpLocks/>
            <a:stCxn id="12" idx="4"/>
          </p:cNvCxnSpPr>
          <p:nvPr/>
        </p:nvCxnSpPr>
        <p:spPr>
          <a:xfrm>
            <a:off x="8590280" y="3434080"/>
            <a:ext cx="10160" cy="2032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08D3D2C-6BC2-6C7D-8ABE-682699266BE1}"/>
              </a:ext>
            </a:extLst>
          </p:cNvPr>
          <p:cNvSpPr/>
          <p:nvPr/>
        </p:nvSpPr>
        <p:spPr>
          <a:xfrm>
            <a:off x="9022080" y="2844800"/>
            <a:ext cx="1402080" cy="508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GELU Activation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261DD-9871-B704-BECE-2091672959B6}"/>
                  </a:ext>
                </a:extLst>
              </p:cNvPr>
              <p:cNvSpPr txBox="1"/>
              <p:nvPr/>
            </p:nvSpPr>
            <p:spPr>
              <a:xfrm>
                <a:off x="696420" y="1376917"/>
                <a:ext cx="5079019" cy="8183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𝐺𝐸𝐿𝑈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tanh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⁡[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+0.044715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)])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261DD-9871-B704-BECE-209167295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420" y="1376917"/>
                <a:ext cx="5079019" cy="8183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F2BBAC0-6ECD-9292-B506-3F0DC00AE80E}"/>
              </a:ext>
            </a:extLst>
          </p:cNvPr>
          <p:cNvSpPr txBox="1"/>
          <p:nvPr/>
        </p:nvSpPr>
        <p:spPr>
          <a:xfrm>
            <a:off x="637951" y="2126508"/>
            <a:ext cx="2975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Element wise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1656814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D304888D-B78B-26F5-9075-CDA3C673C95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995680" y="1330960"/>
                <a:ext cx="10657840" cy="3718560"/>
              </a:xfrm>
            </p:spPr>
            <p:txBody>
              <a:bodyPr>
                <a:normAutofit/>
              </a:bodyPr>
              <a:lstStyle/>
              <a:p>
                <a:r>
                  <a:rPr lang="en-US" sz="1800" b="1" i="0" dirty="0">
                    <a:solidFill>
                      <a:srgbClr val="424242"/>
                    </a:solidFill>
                    <a:effectLst/>
                    <a:latin typeface="+mn-lt"/>
                  </a:rPr>
                  <a:t>Let’s say we have an input vector x of dimension d.</a:t>
                </a:r>
                <a:br>
                  <a:rPr lang="en-US" sz="1800" b="1" i="0" dirty="0">
                    <a:solidFill>
                      <a:srgbClr val="424242"/>
                    </a:solidFill>
                    <a:effectLst/>
                    <a:latin typeface="+mn-lt"/>
                  </a:rPr>
                </a:br>
                <a:br>
                  <a:rPr lang="en-US" sz="1800" b="1" i="0" dirty="0">
                    <a:solidFill>
                      <a:srgbClr val="424242"/>
                    </a:solidFill>
                    <a:effectLst/>
                    <a:latin typeface="+mn-lt"/>
                  </a:rPr>
                </a:br>
                <a:r>
                  <a:rPr lang="en-US" sz="1800" b="1" i="0" dirty="0">
                    <a:solidFill>
                      <a:srgbClr val="424242"/>
                    </a:solidFill>
                    <a:effectLst/>
                    <a:latin typeface="+mn-lt"/>
                  </a:rPr>
                  <a:t>Step 1 ) Compute the Root Mean Square (RMS)</a:t>
                </a:r>
                <a:br>
                  <a:rPr lang="en-US" sz="1800" b="1" i="0" dirty="0">
                    <a:solidFill>
                      <a:srgbClr val="424242"/>
                    </a:solidFill>
                    <a:effectLst/>
                    <a:latin typeface="+mn-lt"/>
                  </a:rPr>
                </a:br>
                <a:br>
                  <a:rPr lang="en-US" sz="1800" b="1" i="0" dirty="0">
                    <a:solidFill>
                      <a:srgbClr val="424242"/>
                    </a:solidFill>
                    <a:effectLst/>
                    <a:latin typeface="+mn-lt"/>
                  </a:rPr>
                </a:br>
                <a:r>
                  <a:rPr lang="en-US" sz="1800" b="1" i="0" dirty="0">
                    <a:solidFill>
                      <a:srgbClr val="424242"/>
                    </a:solidFill>
                    <a:effectLst/>
                    <a:latin typeface="+mn-lt"/>
                  </a:rPr>
                  <a:t>		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424242"/>
                        </a:solidFill>
                        <a:effectLst/>
                        <a:latin typeface="Cambria Math" panose="02040503050406030204" pitchFamily="18" charset="0"/>
                      </a:rPr>
                      <m:t>𝑹𝑴𝑺</m:t>
                    </m:r>
                    <m:r>
                      <a:rPr lang="en-US" sz="1800" b="1" i="1" smtClean="0">
                        <a:solidFill>
                          <a:srgbClr val="424242"/>
                        </a:solidFill>
                        <a:effectLst/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sz="1800" b="1" i="1" smtClean="0">
                            <a:solidFill>
                              <a:srgbClr val="424242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1800" b="1" i="1" smtClean="0">
                                <a:solidFill>
                                  <a:srgbClr val="424242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1" i="1" smtClean="0">
                                <a:solidFill>
                                  <a:srgbClr val="424242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1800" b="1" i="1" smtClean="0">
                                <a:solidFill>
                                  <a:srgbClr val="424242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𝒅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sz="1800" b="1" i="1" smtClean="0">
                                <a:solidFill>
                                  <a:srgbClr val="424242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1800" b="1" i="1" smtClean="0">
                                <a:solidFill>
                                  <a:srgbClr val="424242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sz="1800" b="1" i="1" smtClean="0">
                                <a:solidFill>
                                  <a:srgbClr val="424242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1800" b="1" i="1" smtClean="0">
                                <a:solidFill>
                                  <a:srgbClr val="424242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sz="1800" b="1" i="1" smtClean="0">
                                <a:solidFill>
                                  <a:srgbClr val="424242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𝒅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sz="1800" b="1" i="1" smtClean="0">
                                    <a:solidFill>
                                      <a:srgbClr val="424242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800" b="1" i="1" smtClean="0">
                                    <a:solidFill>
                                      <a:srgbClr val="424242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800" b="1" i="1" smtClean="0">
                                    <a:solidFill>
                                      <a:srgbClr val="424242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US" sz="1800" b="1" i="1" smtClean="0">
                                    <a:solidFill>
                                      <a:srgbClr val="424242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bSup>
                          </m:e>
                        </m:nary>
                        <m:r>
                          <a:rPr lang="en-US" sz="1800" b="1" i="1" smtClean="0">
                            <a:solidFill>
                              <a:srgbClr val="424242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+</m:t>
                        </m:r>
                        <m:r>
                          <a:rPr lang="en-US" sz="1800" b="1" i="1" smtClean="0">
                            <a:solidFill>
                              <a:srgbClr val="42424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𝝐</m:t>
                        </m:r>
                        <m:r>
                          <a:rPr lang="en-US" sz="1800" b="1" i="1" smtClean="0">
                            <a:solidFill>
                              <a:srgbClr val="424242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    </m:t>
                        </m:r>
                      </m:e>
                    </m:rad>
                  </m:oMath>
                </a14:m>
                <a:br>
                  <a:rPr lang="en-US" sz="1800" b="1" dirty="0">
                    <a:solidFill>
                      <a:srgbClr val="424242"/>
                    </a:solidFill>
                    <a:latin typeface="+mn-lt"/>
                  </a:rPr>
                </a:br>
                <a:br>
                  <a:rPr lang="en-US" sz="1800" b="1" dirty="0">
                    <a:solidFill>
                      <a:srgbClr val="424242"/>
                    </a:solidFill>
                    <a:latin typeface="+mn-lt"/>
                  </a:rPr>
                </a:br>
                <a:r>
                  <a:rPr lang="en-US" sz="1800" b="1" dirty="0">
                    <a:solidFill>
                      <a:srgbClr val="424242"/>
                    </a:solidFill>
                    <a:latin typeface="+mn-lt"/>
                  </a:rPr>
                  <a:t>Step 2 ) Normalize the Input</a:t>
                </a:r>
                <a:br>
                  <a:rPr lang="en-US" sz="1800" b="1" dirty="0">
                    <a:solidFill>
                      <a:srgbClr val="424242"/>
                    </a:solidFill>
                    <a:latin typeface="+mn-lt"/>
                  </a:rPr>
                </a:br>
                <a:r>
                  <a:rPr lang="en-US" sz="1800" b="1" dirty="0">
                    <a:solidFill>
                      <a:srgbClr val="424242"/>
                    </a:solidFill>
                    <a:latin typeface="+mn-lt"/>
                  </a:rPr>
                  <a:t>                         </a:t>
                </a:r>
                <a:br>
                  <a:rPr lang="en-US" sz="1800" b="1" dirty="0">
                    <a:solidFill>
                      <a:srgbClr val="424242"/>
                    </a:solidFill>
                    <a:latin typeface="+mn-lt"/>
                  </a:rPr>
                </a:br>
                <a:r>
                  <a:rPr lang="en-US" sz="1800" b="1" dirty="0">
                    <a:solidFill>
                      <a:srgbClr val="424242"/>
                    </a:solidFill>
                    <a:latin typeface="+mn-lt"/>
                  </a:rPr>
                  <a:t>      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b="1" i="1" smtClean="0">
                                <a:solidFill>
                                  <a:srgbClr val="42424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1" i="1" smtClean="0">
                                <a:solidFill>
                                  <a:srgbClr val="424242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sz="1800" b="1" i="1" smtClean="0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800" b="1" i="1" smtClean="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800" b="1" i="1" smtClean="0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b="1" i="1" smtClean="0">
                                <a:solidFill>
                                  <a:srgbClr val="42424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smtClean="0">
                                <a:solidFill>
                                  <a:srgbClr val="424242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800" b="1" i="1" smtClean="0">
                                <a:solidFill>
                                  <a:srgbClr val="424242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num>
                      <m:den>
                        <m:r>
                          <a:rPr lang="en-US" sz="1800" b="1" i="1" smtClean="0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  <m:t>𝑹𝑴𝑺</m:t>
                        </m:r>
                        <m:r>
                          <a:rPr lang="en-US" sz="1800" b="1" i="1" smtClean="0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1" i="1" smtClean="0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1800" b="1" i="1" smtClean="0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br>
                  <a:rPr lang="en-US" sz="1800" b="1" dirty="0">
                    <a:latin typeface="+mn-lt"/>
                  </a:rPr>
                </a:br>
                <a:br>
                  <a:rPr lang="en-US" sz="1800" b="1" dirty="0">
                    <a:latin typeface="+mn-lt"/>
                  </a:rPr>
                </a:br>
                <a:r>
                  <a:rPr lang="en-US" sz="1800" b="1" dirty="0">
                    <a:latin typeface="+mn-lt"/>
                  </a:rPr>
                  <a:t>Step 3 ) Apply Learnable Scale Parameters (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en-US" sz="1800" b="1" dirty="0">
                    <a:latin typeface="+mn-lt"/>
                  </a:rPr>
                  <a:t>)</a:t>
                </a:r>
                <a:br>
                  <a:rPr lang="en-US" sz="1800" b="1" dirty="0">
                    <a:latin typeface="+mn-lt"/>
                  </a:rPr>
                </a:br>
                <a:br>
                  <a:rPr lang="en-US" sz="1800" b="1" dirty="0">
                    <a:latin typeface="+mn-lt"/>
                  </a:rPr>
                </a:br>
                <a:r>
                  <a:rPr lang="en-US" sz="1800" b="1" dirty="0">
                    <a:latin typeface="+mn-lt"/>
                  </a:rPr>
                  <a:t>                 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𝑹𝑴𝑺𝒏𝒐𝒓𝒎</m:t>
                    </m:r>
                    <m:d>
                      <m:d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8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𝜸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endParaRPr lang="en-US" sz="1800" b="1" dirty="0">
                  <a:latin typeface="+mn-lt"/>
                </a:endParaRPr>
              </a:p>
            </p:txBody>
          </p:sp>
        </mc:Choice>
        <mc:Fallback xmlns=""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D304888D-B78B-26F5-9075-CDA3C673C9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995680" y="1330960"/>
                <a:ext cx="10657840" cy="3718560"/>
              </a:xfrm>
              <a:blipFill>
                <a:blip r:embed="rId3"/>
                <a:stretch>
                  <a:fillRect l="-457" t="-8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3">
            <a:extLst>
              <a:ext uri="{FF2B5EF4-FFF2-40B4-BE49-F238E27FC236}">
                <a16:creationId xmlns:a16="http://schemas.microsoft.com/office/drawing/2014/main" id="{5FFB0D68-3EBF-EC01-3AC2-25DA06CDFCDD}"/>
              </a:ext>
            </a:extLst>
          </p:cNvPr>
          <p:cNvSpPr txBox="1">
            <a:spLocks/>
          </p:cNvSpPr>
          <p:nvPr/>
        </p:nvSpPr>
        <p:spPr>
          <a:xfrm>
            <a:off x="731520" y="629920"/>
            <a:ext cx="9418320" cy="6107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dirty="0" err="1"/>
              <a:t>RMSNorm</a:t>
            </a:r>
            <a:r>
              <a:rPr lang="en-US" sz="3100" dirty="0"/>
              <a:t> (Root Mean Square Layer Normalization) </a:t>
            </a:r>
          </a:p>
        </p:txBody>
      </p:sp>
    </p:spTree>
    <p:extLst>
      <p:ext uri="{BB962C8B-B14F-4D97-AF65-F5344CB8AC3E}">
        <p14:creationId xmlns:p14="http://schemas.microsoft.com/office/powerpoint/2010/main" val="4100392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93068E8-C13D-81A3-5BA8-2422A5DA4D60}"/>
              </a:ext>
            </a:extLst>
          </p:cNvPr>
          <p:cNvSpPr/>
          <p:nvPr/>
        </p:nvSpPr>
        <p:spPr>
          <a:xfrm>
            <a:off x="6492240" y="1574800"/>
            <a:ext cx="3820160" cy="4226560"/>
          </a:xfrm>
          <a:prstGeom prst="roundRect">
            <a:avLst>
              <a:gd name="adj" fmla="val 308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0393FAA-AC44-BFDA-D1A3-86C3BE9194B1}"/>
              </a:ext>
            </a:extLst>
          </p:cNvPr>
          <p:cNvSpPr/>
          <p:nvPr/>
        </p:nvSpPr>
        <p:spPr>
          <a:xfrm>
            <a:off x="7091680" y="2092960"/>
            <a:ext cx="2712720" cy="4470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RMS Norm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3CB4023-5D28-8075-D5E5-2AAE1882BD11}"/>
              </a:ext>
            </a:extLst>
          </p:cNvPr>
          <p:cNvSpPr/>
          <p:nvPr/>
        </p:nvSpPr>
        <p:spPr>
          <a:xfrm>
            <a:off x="7091680" y="2978051"/>
            <a:ext cx="2712720" cy="43180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Multi-head self attention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845745E-1E8B-46BB-E9E7-4504B20C6879}"/>
              </a:ext>
            </a:extLst>
          </p:cNvPr>
          <p:cNvSpPr/>
          <p:nvPr/>
        </p:nvSpPr>
        <p:spPr>
          <a:xfrm>
            <a:off x="7091680" y="4033520"/>
            <a:ext cx="2712720" cy="4470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RMS Norm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A294D27-FD4F-0705-78D4-3748DEB6706A}"/>
              </a:ext>
            </a:extLst>
          </p:cNvPr>
          <p:cNvSpPr/>
          <p:nvPr/>
        </p:nvSpPr>
        <p:spPr>
          <a:xfrm>
            <a:off x="7091680" y="4918611"/>
            <a:ext cx="2712720" cy="431800"/>
          </a:xfrm>
          <a:prstGeom prst="roundRect">
            <a:avLst/>
          </a:prstGeom>
          <a:solidFill>
            <a:srgbClr val="A7AD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Feed Forward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A77C99F-C095-E920-1E52-45DE6EDD8E70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8448040" y="1442720"/>
            <a:ext cx="0" cy="6502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9FA2431-0B9E-6AE8-B9CF-A0B65ACF8E07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8448040" y="2540000"/>
            <a:ext cx="0" cy="4368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61CE33A-81EB-0CA8-B52B-777419866D13}"/>
              </a:ext>
            </a:extLst>
          </p:cNvPr>
          <p:cNvCxnSpPr>
            <a:cxnSpLocks/>
          </p:cNvCxnSpPr>
          <p:nvPr/>
        </p:nvCxnSpPr>
        <p:spPr>
          <a:xfrm>
            <a:off x="8448040" y="4500880"/>
            <a:ext cx="0" cy="4368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F092167-8EAE-6615-67F2-D9FC571554C3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8448040" y="3444240"/>
            <a:ext cx="0" cy="5892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Flowchart: Or 20">
            <a:extLst>
              <a:ext uri="{FF2B5EF4-FFF2-40B4-BE49-F238E27FC236}">
                <a16:creationId xmlns:a16="http://schemas.microsoft.com/office/drawing/2014/main" id="{339E9278-4EA2-3839-4B58-716AF1FC522B}"/>
              </a:ext>
            </a:extLst>
          </p:cNvPr>
          <p:cNvSpPr/>
          <p:nvPr/>
        </p:nvSpPr>
        <p:spPr>
          <a:xfrm>
            <a:off x="8315960" y="3526691"/>
            <a:ext cx="243840" cy="233680"/>
          </a:xfrm>
          <a:prstGeom prst="flowChartOr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16CFF4D-59A0-3438-7326-48AEF99F8F82}"/>
              </a:ext>
            </a:extLst>
          </p:cNvPr>
          <p:cNvCxnSpPr>
            <a:cxnSpLocks/>
          </p:cNvCxnSpPr>
          <p:nvPr/>
        </p:nvCxnSpPr>
        <p:spPr>
          <a:xfrm>
            <a:off x="8448040" y="5350411"/>
            <a:ext cx="0" cy="6502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3607220-15A2-8687-3616-FC5874E6271A}"/>
              </a:ext>
            </a:extLst>
          </p:cNvPr>
          <p:cNvCxnSpPr/>
          <p:nvPr/>
        </p:nvCxnSpPr>
        <p:spPr>
          <a:xfrm flipH="1">
            <a:off x="6766560" y="1828800"/>
            <a:ext cx="1681480" cy="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850F41C-0C20-7B35-B568-BEE3527EABDA}"/>
              </a:ext>
            </a:extLst>
          </p:cNvPr>
          <p:cNvCxnSpPr>
            <a:cxnSpLocks/>
          </p:cNvCxnSpPr>
          <p:nvPr/>
        </p:nvCxnSpPr>
        <p:spPr>
          <a:xfrm>
            <a:off x="6766560" y="1824891"/>
            <a:ext cx="0" cy="1802229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321E645-C7DB-ECDC-DA7B-24F5BFC62EB3}"/>
              </a:ext>
            </a:extLst>
          </p:cNvPr>
          <p:cNvCxnSpPr>
            <a:endCxn id="21" idx="2"/>
          </p:cNvCxnSpPr>
          <p:nvPr/>
        </p:nvCxnSpPr>
        <p:spPr>
          <a:xfrm>
            <a:off x="6756400" y="3628291"/>
            <a:ext cx="1559560" cy="15240"/>
          </a:xfrm>
          <a:prstGeom prst="straightConnector1">
            <a:avLst/>
          </a:prstGeom>
          <a:ln w="2222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Flowchart: Or 48">
            <a:extLst>
              <a:ext uri="{FF2B5EF4-FFF2-40B4-BE49-F238E27FC236}">
                <a16:creationId xmlns:a16="http://schemas.microsoft.com/office/drawing/2014/main" id="{47489ADE-9A47-A2F0-59E9-A425280CC399}"/>
              </a:ext>
            </a:extLst>
          </p:cNvPr>
          <p:cNvSpPr/>
          <p:nvPr/>
        </p:nvSpPr>
        <p:spPr>
          <a:xfrm>
            <a:off x="8326120" y="5467251"/>
            <a:ext cx="243840" cy="233680"/>
          </a:xfrm>
          <a:prstGeom prst="flowChartOr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85E1DDB-F7B9-FD63-0BF7-4B6D49D3F044}"/>
              </a:ext>
            </a:extLst>
          </p:cNvPr>
          <p:cNvCxnSpPr/>
          <p:nvPr/>
        </p:nvCxnSpPr>
        <p:spPr>
          <a:xfrm flipH="1">
            <a:off x="6776720" y="3830320"/>
            <a:ext cx="1681480" cy="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4A1CAB3-E55F-8533-25F7-30980B1851E4}"/>
              </a:ext>
            </a:extLst>
          </p:cNvPr>
          <p:cNvCxnSpPr>
            <a:cxnSpLocks/>
          </p:cNvCxnSpPr>
          <p:nvPr/>
        </p:nvCxnSpPr>
        <p:spPr>
          <a:xfrm>
            <a:off x="6776720" y="3826411"/>
            <a:ext cx="0" cy="164084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6C2FA2B-6A14-0771-C0C5-71F4CFF64F42}"/>
              </a:ext>
            </a:extLst>
          </p:cNvPr>
          <p:cNvCxnSpPr/>
          <p:nvPr/>
        </p:nvCxnSpPr>
        <p:spPr>
          <a:xfrm>
            <a:off x="6776720" y="5551656"/>
            <a:ext cx="1559560" cy="15240"/>
          </a:xfrm>
          <a:prstGeom prst="straightConnector1">
            <a:avLst/>
          </a:prstGeom>
          <a:ln w="2222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3DAB117E-F128-8515-46D5-3E9CDEE701CB}"/>
              </a:ext>
            </a:extLst>
          </p:cNvPr>
          <p:cNvSpPr/>
          <p:nvPr/>
        </p:nvSpPr>
        <p:spPr>
          <a:xfrm>
            <a:off x="7081520" y="5994400"/>
            <a:ext cx="2712720" cy="44704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LM Head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09A3561E-4459-6F15-F5A1-725794F9F118}"/>
              </a:ext>
            </a:extLst>
          </p:cNvPr>
          <p:cNvSpPr/>
          <p:nvPr/>
        </p:nvSpPr>
        <p:spPr>
          <a:xfrm>
            <a:off x="7081520" y="995680"/>
            <a:ext cx="2712720" cy="44704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Embedding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A3BB4E5-3FC0-3EAF-9032-0F1486C2D84D}"/>
              </a:ext>
            </a:extLst>
          </p:cNvPr>
          <p:cNvSpPr txBox="1"/>
          <p:nvPr/>
        </p:nvSpPr>
        <p:spPr>
          <a:xfrm>
            <a:off x="10434320" y="3526691"/>
            <a:ext cx="726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32x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E4B7D52-7232-597A-A16B-7D842E5FE13D}"/>
              </a:ext>
            </a:extLst>
          </p:cNvPr>
          <p:cNvSpPr txBox="1"/>
          <p:nvPr/>
        </p:nvSpPr>
        <p:spPr>
          <a:xfrm>
            <a:off x="9855202" y="1037491"/>
            <a:ext cx="1742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200064 x 3072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36EF5BB5-E831-9DCD-0BF3-2F30A7000B5F}"/>
              </a:ext>
            </a:extLst>
          </p:cNvPr>
          <p:cNvSpPr/>
          <p:nvPr/>
        </p:nvSpPr>
        <p:spPr>
          <a:xfrm>
            <a:off x="7071360" y="396240"/>
            <a:ext cx="2712720" cy="44704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Tokenizer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DA56AE3-48F2-79BA-7E48-A0A00CAD542D}"/>
              </a:ext>
            </a:extLst>
          </p:cNvPr>
          <p:cNvCxnSpPr>
            <a:cxnSpLocks/>
            <a:stCxn id="61" idx="2"/>
          </p:cNvCxnSpPr>
          <p:nvPr/>
        </p:nvCxnSpPr>
        <p:spPr>
          <a:xfrm>
            <a:off x="8427720" y="843280"/>
            <a:ext cx="10160" cy="1625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0E9E337F-9ADB-7BEC-9BDA-F2817D7E7248}"/>
              </a:ext>
            </a:extLst>
          </p:cNvPr>
          <p:cNvSpPr txBox="1"/>
          <p:nvPr/>
        </p:nvSpPr>
        <p:spPr>
          <a:xfrm>
            <a:off x="8778239" y="1493520"/>
            <a:ext cx="15341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Transformer </a:t>
            </a:r>
          </a:p>
          <a:p>
            <a:r>
              <a:rPr lang="en-US" dirty="0">
                <a:solidFill>
                  <a:srgbClr val="002060"/>
                </a:solidFill>
              </a:rPr>
              <a:t>Block</a:t>
            </a:r>
          </a:p>
        </p:txBody>
      </p:sp>
      <p:sp>
        <p:nvSpPr>
          <p:cNvPr id="67" name="Title 3">
            <a:extLst>
              <a:ext uri="{FF2B5EF4-FFF2-40B4-BE49-F238E27FC236}">
                <a16:creationId xmlns:a16="http://schemas.microsoft.com/office/drawing/2014/main" id="{D60FC29B-61E4-04F6-E9D7-5841AED71576}"/>
              </a:ext>
            </a:extLst>
          </p:cNvPr>
          <p:cNvSpPr txBox="1">
            <a:spLocks/>
          </p:cNvSpPr>
          <p:nvPr/>
        </p:nvSpPr>
        <p:spPr>
          <a:xfrm>
            <a:off x="731520" y="2854960"/>
            <a:ext cx="4114800" cy="61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Architecture</a:t>
            </a:r>
          </a:p>
        </p:txBody>
      </p:sp>
    </p:spTree>
    <p:extLst>
      <p:ext uri="{BB962C8B-B14F-4D97-AF65-F5344CB8AC3E}">
        <p14:creationId xmlns:p14="http://schemas.microsoft.com/office/powerpoint/2010/main" val="2869655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20D054F8-41D8-4DD6-D86B-EB8289B2D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080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itle 7">
            <a:extLst>
              <a:ext uri="{FF2B5EF4-FFF2-40B4-BE49-F238E27FC236}">
                <a16:creationId xmlns:a16="http://schemas.microsoft.com/office/drawing/2014/main" id="{7EB286A9-5782-46E8-307E-7CBAD4200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81" y="396239"/>
            <a:ext cx="7186459" cy="1534161"/>
          </a:xfrm>
        </p:spPr>
        <p:txBody>
          <a:bodyPr/>
          <a:lstStyle/>
          <a:p>
            <a:r>
              <a:rPr lang="en-US" dirty="0"/>
              <a:t> Phi-4-Mini-Multimodal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3FD7E0-A927-513E-A820-F256790144B9}"/>
              </a:ext>
            </a:extLst>
          </p:cNvPr>
          <p:cNvSpPr txBox="1"/>
          <p:nvPr/>
        </p:nvSpPr>
        <p:spPr>
          <a:xfrm>
            <a:off x="838200" y="1741269"/>
            <a:ext cx="106324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Multimodal model integrates text, vision and speech/audio input modalities into a single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Its Novel (Mixture of </a:t>
            </a:r>
            <a:r>
              <a:rPr lang="en-US" dirty="0" err="1"/>
              <a:t>LoRAs</a:t>
            </a:r>
            <a:r>
              <a:rPr lang="en-US" dirty="0"/>
              <a:t>) modality extension approach leverages </a:t>
            </a:r>
            <a:r>
              <a:rPr lang="en-US" dirty="0" err="1"/>
              <a:t>LoRA</a:t>
            </a:r>
            <a:r>
              <a:rPr lang="en-US" dirty="0"/>
              <a:t> adapters and modality-specific routers to allow multiple inference modes combining various modalities without interference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Keeps base model entirely frozen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allows seamless integration of new </a:t>
            </a:r>
            <a:r>
              <a:rPr lang="en-US" dirty="0" err="1"/>
              <a:t>LoRAs</a:t>
            </a:r>
            <a:r>
              <a:rPr lang="en-US" dirty="0"/>
              <a:t> to support additional modalities without impacting existing 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First open-source model with speech summarization capability </a:t>
            </a:r>
          </a:p>
        </p:txBody>
      </p:sp>
    </p:spTree>
    <p:extLst>
      <p:ext uri="{BB962C8B-B14F-4D97-AF65-F5344CB8AC3E}">
        <p14:creationId xmlns:p14="http://schemas.microsoft.com/office/powerpoint/2010/main" val="2608203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20D054F8-41D8-4DD6-D86B-EB8289B2D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080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itle 7">
            <a:extLst>
              <a:ext uri="{FF2B5EF4-FFF2-40B4-BE49-F238E27FC236}">
                <a16:creationId xmlns:a16="http://schemas.microsoft.com/office/drawing/2014/main" id="{7EB286A9-5782-46E8-307E-7CBAD4200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81" y="396239"/>
            <a:ext cx="7186459" cy="1534161"/>
          </a:xfrm>
        </p:spPr>
        <p:txBody>
          <a:bodyPr/>
          <a:lstStyle/>
          <a:p>
            <a:r>
              <a:rPr lang="en-US" dirty="0"/>
              <a:t>Vision Modality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9FF1C27-2FBA-06DD-8306-E074C0E324DE}"/>
              </a:ext>
            </a:extLst>
          </p:cNvPr>
          <p:cNvSpPr/>
          <p:nvPr/>
        </p:nvSpPr>
        <p:spPr>
          <a:xfrm>
            <a:off x="7995920" y="833120"/>
            <a:ext cx="3037840" cy="4876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Vison Encoder (SigLip-400M)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C7C32BC-D71B-CCA0-27D0-36DF4757C619}"/>
              </a:ext>
            </a:extLst>
          </p:cNvPr>
          <p:cNvSpPr/>
          <p:nvPr/>
        </p:nvSpPr>
        <p:spPr>
          <a:xfrm>
            <a:off x="8422640" y="1574800"/>
            <a:ext cx="2336800" cy="487680"/>
          </a:xfrm>
          <a:prstGeom prst="roundRect">
            <a:avLst/>
          </a:prstGeom>
          <a:solidFill>
            <a:srgbClr val="00CC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Vision Projector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E8D207-770F-F37A-7C0E-148F430007D2}"/>
              </a:ext>
            </a:extLst>
          </p:cNvPr>
          <p:cNvSpPr txBox="1"/>
          <p:nvPr/>
        </p:nvSpPr>
        <p:spPr>
          <a:xfrm>
            <a:off x="680720" y="1838960"/>
            <a:ext cx="72440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vision projector (2-layer MLP ) to align the vision and text embeddings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Vision encoder is finetuned with LLM2CLIP on large scale image text pairs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Extra </a:t>
            </a:r>
            <a:r>
              <a:rPr lang="en-US" dirty="0" err="1"/>
              <a:t>LoRA</a:t>
            </a:r>
            <a:r>
              <a:rPr lang="en-US" dirty="0"/>
              <a:t> is added on all the linear layers in the language decoder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Vison encoder and projector introduce 440 M model parameter while vision adapter </a:t>
            </a:r>
            <a:r>
              <a:rPr lang="en-US" dirty="0" err="1"/>
              <a:t>LoRA</a:t>
            </a:r>
            <a:r>
              <a:rPr lang="en-US" dirty="0"/>
              <a:t> consume 370M parameter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A41C8CB-F82D-0F16-136F-87E53E7A2262}"/>
              </a:ext>
            </a:extLst>
          </p:cNvPr>
          <p:cNvSpPr/>
          <p:nvPr/>
        </p:nvSpPr>
        <p:spPr>
          <a:xfrm>
            <a:off x="7941465" y="2405917"/>
            <a:ext cx="3234535" cy="3187102"/>
          </a:xfrm>
          <a:prstGeom prst="roundRect">
            <a:avLst>
              <a:gd name="adj" fmla="val 308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0ABFA4B-4AB8-5118-401F-F41A3CFCE693}"/>
              </a:ext>
            </a:extLst>
          </p:cNvPr>
          <p:cNvSpPr/>
          <p:nvPr/>
        </p:nvSpPr>
        <p:spPr>
          <a:xfrm>
            <a:off x="8449012" y="2796643"/>
            <a:ext cx="2296864" cy="3370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RMS Norm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05572B2-4D45-1368-4C49-BF95A84C6794}"/>
              </a:ext>
            </a:extLst>
          </p:cNvPr>
          <p:cNvSpPr/>
          <p:nvPr/>
        </p:nvSpPr>
        <p:spPr>
          <a:xfrm>
            <a:off x="8449012" y="3321277"/>
            <a:ext cx="2296864" cy="468387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Multi-head self attention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102F92E-7449-75AA-BAC9-1B54621ED553}"/>
              </a:ext>
            </a:extLst>
          </p:cNvPr>
          <p:cNvSpPr/>
          <p:nvPr/>
        </p:nvSpPr>
        <p:spPr>
          <a:xfrm>
            <a:off x="8449012" y="4259952"/>
            <a:ext cx="2296864" cy="3370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RMS Norm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2723151-F173-E348-0CCC-1446C211D1DC}"/>
              </a:ext>
            </a:extLst>
          </p:cNvPr>
          <p:cNvSpPr/>
          <p:nvPr/>
        </p:nvSpPr>
        <p:spPr>
          <a:xfrm>
            <a:off x="8449012" y="4927368"/>
            <a:ext cx="2296864" cy="325605"/>
          </a:xfrm>
          <a:prstGeom prst="roundRect">
            <a:avLst/>
          </a:prstGeom>
          <a:solidFill>
            <a:srgbClr val="A7AD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Feed Forward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CDB85B0-D898-6FD4-08E7-AF6D079F6BC3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9597444" y="2306320"/>
            <a:ext cx="0" cy="49032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B47072E-6707-4C16-51C7-DFD1AF68B08F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9597444" y="3133740"/>
            <a:ext cx="0" cy="18753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5BEA41A-A858-5F58-9B6C-AADD93468858}"/>
              </a:ext>
            </a:extLst>
          </p:cNvPr>
          <p:cNvCxnSpPr>
            <a:cxnSpLocks/>
          </p:cNvCxnSpPr>
          <p:nvPr/>
        </p:nvCxnSpPr>
        <p:spPr>
          <a:xfrm>
            <a:off x="9597444" y="4612372"/>
            <a:ext cx="0" cy="32943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B3A889F-4828-FBB7-4BB9-D79881615A03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9597444" y="3815596"/>
            <a:ext cx="0" cy="4443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Flowchart: Or 16">
            <a:extLst>
              <a:ext uri="{FF2B5EF4-FFF2-40B4-BE49-F238E27FC236}">
                <a16:creationId xmlns:a16="http://schemas.microsoft.com/office/drawing/2014/main" id="{B904908B-58F3-03E7-378B-2FE88C843D9C}"/>
              </a:ext>
            </a:extLst>
          </p:cNvPr>
          <p:cNvSpPr/>
          <p:nvPr/>
        </p:nvSpPr>
        <p:spPr>
          <a:xfrm>
            <a:off x="9485611" y="3877769"/>
            <a:ext cx="206460" cy="176209"/>
          </a:xfrm>
          <a:prstGeom prst="flowChartOr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EDD9740-F89F-1D0A-56B2-9998B36D71B6}"/>
              </a:ext>
            </a:extLst>
          </p:cNvPr>
          <p:cNvCxnSpPr>
            <a:cxnSpLocks/>
          </p:cNvCxnSpPr>
          <p:nvPr/>
        </p:nvCxnSpPr>
        <p:spPr>
          <a:xfrm>
            <a:off x="9597444" y="5252973"/>
            <a:ext cx="0" cy="4903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91106B3-258C-1BA7-14BC-C1F11FF4F543}"/>
              </a:ext>
            </a:extLst>
          </p:cNvPr>
          <p:cNvCxnSpPr/>
          <p:nvPr/>
        </p:nvCxnSpPr>
        <p:spPr>
          <a:xfrm flipH="1">
            <a:off x="8173733" y="2597450"/>
            <a:ext cx="1423711" cy="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3A277F7-5D9E-35B0-E839-34BABDA70BC5}"/>
              </a:ext>
            </a:extLst>
          </p:cNvPr>
          <p:cNvCxnSpPr>
            <a:cxnSpLocks/>
          </p:cNvCxnSpPr>
          <p:nvPr/>
        </p:nvCxnSpPr>
        <p:spPr>
          <a:xfrm>
            <a:off x="8173733" y="2594502"/>
            <a:ext cx="0" cy="1358998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EFC335F-3E09-0F04-C4E3-5D1A50007442}"/>
              </a:ext>
            </a:extLst>
          </p:cNvPr>
          <p:cNvCxnSpPr>
            <a:endCxn id="17" idx="2"/>
          </p:cNvCxnSpPr>
          <p:nvPr/>
        </p:nvCxnSpPr>
        <p:spPr>
          <a:xfrm>
            <a:off x="8165130" y="3954383"/>
            <a:ext cx="1320482" cy="11492"/>
          </a:xfrm>
          <a:prstGeom prst="straightConnector1">
            <a:avLst/>
          </a:prstGeom>
          <a:ln w="2222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lowchart: Or 22">
            <a:extLst>
              <a:ext uri="{FF2B5EF4-FFF2-40B4-BE49-F238E27FC236}">
                <a16:creationId xmlns:a16="http://schemas.microsoft.com/office/drawing/2014/main" id="{5B569541-852D-88F3-C697-939AE2C40BAA}"/>
              </a:ext>
            </a:extLst>
          </p:cNvPr>
          <p:cNvSpPr/>
          <p:nvPr/>
        </p:nvSpPr>
        <p:spPr>
          <a:xfrm>
            <a:off x="9494214" y="5341079"/>
            <a:ext cx="206460" cy="176209"/>
          </a:xfrm>
          <a:prstGeom prst="flowChartOr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42526B0-7FC5-A325-A885-3691D7E4137C}"/>
              </a:ext>
            </a:extLst>
          </p:cNvPr>
          <p:cNvCxnSpPr/>
          <p:nvPr/>
        </p:nvCxnSpPr>
        <p:spPr>
          <a:xfrm flipH="1">
            <a:off x="8182335" y="4106726"/>
            <a:ext cx="1423711" cy="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7505EE8-9C93-0D9A-8F5F-A4F5EAFCED2B}"/>
              </a:ext>
            </a:extLst>
          </p:cNvPr>
          <p:cNvCxnSpPr>
            <a:cxnSpLocks/>
          </p:cNvCxnSpPr>
          <p:nvPr/>
        </p:nvCxnSpPr>
        <p:spPr>
          <a:xfrm>
            <a:off x="8182335" y="4103779"/>
            <a:ext cx="0" cy="123730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D5ACC23-E01B-38E1-18C4-3CA76535B50B}"/>
              </a:ext>
            </a:extLst>
          </p:cNvPr>
          <p:cNvCxnSpPr/>
          <p:nvPr/>
        </p:nvCxnSpPr>
        <p:spPr>
          <a:xfrm>
            <a:off x="8182335" y="5404725"/>
            <a:ext cx="1320482" cy="11492"/>
          </a:xfrm>
          <a:prstGeom prst="straightConnector1">
            <a:avLst/>
          </a:prstGeom>
          <a:ln w="2222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2B484D3-479B-80E0-31F6-78AD7D37C2BF}"/>
              </a:ext>
            </a:extLst>
          </p:cNvPr>
          <p:cNvSpPr/>
          <p:nvPr/>
        </p:nvSpPr>
        <p:spPr>
          <a:xfrm>
            <a:off x="8440410" y="5738583"/>
            <a:ext cx="2296864" cy="33709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LM Head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A555F0-A7E9-4B00-2DAB-1D90FCBB69F4}"/>
              </a:ext>
            </a:extLst>
          </p:cNvPr>
          <p:cNvSpPr txBox="1"/>
          <p:nvPr/>
        </p:nvSpPr>
        <p:spPr>
          <a:xfrm>
            <a:off x="9796090" y="2344627"/>
            <a:ext cx="1379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Transformer </a:t>
            </a:r>
          </a:p>
          <a:p>
            <a:r>
              <a:rPr lang="en-US" dirty="0">
                <a:solidFill>
                  <a:srgbClr val="002060"/>
                </a:solidFill>
              </a:rPr>
              <a:t>Block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9C8E953-EF78-DCDE-AB07-917E3A8CA799}"/>
              </a:ext>
            </a:extLst>
          </p:cNvPr>
          <p:cNvSpPr/>
          <p:nvPr/>
        </p:nvSpPr>
        <p:spPr>
          <a:xfrm>
            <a:off x="6664960" y="3465945"/>
            <a:ext cx="1541638" cy="325605"/>
          </a:xfrm>
          <a:prstGeom prst="roundRect">
            <a:avLst/>
          </a:prstGeom>
          <a:solidFill>
            <a:srgbClr val="00CC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256 Rank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79E4891-196D-BE81-8170-A0BB4F56220E}"/>
              </a:ext>
            </a:extLst>
          </p:cNvPr>
          <p:cNvSpPr/>
          <p:nvPr/>
        </p:nvSpPr>
        <p:spPr>
          <a:xfrm>
            <a:off x="6664960" y="4906771"/>
            <a:ext cx="1541638" cy="325605"/>
          </a:xfrm>
          <a:prstGeom prst="roundRect">
            <a:avLst/>
          </a:prstGeom>
          <a:solidFill>
            <a:srgbClr val="00CC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256 Rank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A84FE55-5F23-022E-2DD0-137DCAB52A5F}"/>
              </a:ext>
            </a:extLst>
          </p:cNvPr>
          <p:cNvSpPr txBox="1"/>
          <p:nvPr/>
        </p:nvSpPr>
        <p:spPr>
          <a:xfrm>
            <a:off x="6840075" y="3818098"/>
            <a:ext cx="1320482" cy="995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Vision Adapter </a:t>
            </a:r>
            <a:r>
              <a:rPr lang="en-US" dirty="0" err="1"/>
              <a:t>LoRA</a:t>
            </a:r>
            <a:endParaRPr lang="en-US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1D89AB0-E239-CBA5-CD85-59533945DB55}"/>
              </a:ext>
            </a:extLst>
          </p:cNvPr>
          <p:cNvCxnSpPr>
            <a:cxnSpLocks/>
          </p:cNvCxnSpPr>
          <p:nvPr/>
        </p:nvCxnSpPr>
        <p:spPr>
          <a:xfrm>
            <a:off x="9581677" y="1312570"/>
            <a:ext cx="0" cy="2694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577081D-228D-4139-6C4A-01462F37AE6A}"/>
              </a:ext>
            </a:extLst>
          </p:cNvPr>
          <p:cNvSpPr txBox="1"/>
          <p:nvPr/>
        </p:nvSpPr>
        <p:spPr>
          <a:xfrm>
            <a:off x="9620736" y="1270000"/>
            <a:ext cx="886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1152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E83005B-2CA0-DA9A-D18A-84942D8FE509}"/>
              </a:ext>
            </a:extLst>
          </p:cNvPr>
          <p:cNvSpPr txBox="1"/>
          <p:nvPr/>
        </p:nvSpPr>
        <p:spPr>
          <a:xfrm>
            <a:off x="9529296" y="2021840"/>
            <a:ext cx="886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3072</a:t>
            </a:r>
          </a:p>
        </p:txBody>
      </p:sp>
    </p:spTree>
    <p:extLst>
      <p:ext uri="{BB962C8B-B14F-4D97-AF65-F5344CB8AC3E}">
        <p14:creationId xmlns:p14="http://schemas.microsoft.com/office/powerpoint/2010/main" val="1082963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B47072E-6707-4C16-51C7-DFD1AF68B08F}"/>
              </a:ext>
            </a:extLst>
          </p:cNvPr>
          <p:cNvCxnSpPr>
            <a:cxnSpLocks/>
          </p:cNvCxnSpPr>
          <p:nvPr/>
        </p:nvCxnSpPr>
        <p:spPr>
          <a:xfrm>
            <a:off x="9612450" y="2990958"/>
            <a:ext cx="0" cy="32943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20D054F8-41D8-4DD6-D86B-EB8289B2D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080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itle 7">
            <a:extLst>
              <a:ext uri="{FF2B5EF4-FFF2-40B4-BE49-F238E27FC236}">
                <a16:creationId xmlns:a16="http://schemas.microsoft.com/office/drawing/2014/main" id="{7EB286A9-5782-46E8-307E-7CBAD4200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81" y="396239"/>
            <a:ext cx="7431881" cy="1534161"/>
          </a:xfrm>
        </p:spPr>
        <p:txBody>
          <a:bodyPr/>
          <a:lstStyle/>
          <a:p>
            <a:r>
              <a:rPr lang="en-US" dirty="0"/>
              <a:t>Speech and Audio Modality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9FF1C27-2FBA-06DD-8306-E074C0E324DE}"/>
              </a:ext>
            </a:extLst>
          </p:cNvPr>
          <p:cNvSpPr/>
          <p:nvPr/>
        </p:nvSpPr>
        <p:spPr>
          <a:xfrm>
            <a:off x="7995920" y="833120"/>
            <a:ext cx="3037840" cy="4876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Audio Encoder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C7C32BC-D71B-CCA0-27D0-36DF4757C619}"/>
              </a:ext>
            </a:extLst>
          </p:cNvPr>
          <p:cNvSpPr/>
          <p:nvPr/>
        </p:nvSpPr>
        <p:spPr>
          <a:xfrm>
            <a:off x="8422640" y="1574800"/>
            <a:ext cx="2336800" cy="48768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Audio Projector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E8D207-770F-F37A-7C0E-148F430007D2}"/>
              </a:ext>
            </a:extLst>
          </p:cNvPr>
          <p:cNvSpPr txBox="1"/>
          <p:nvPr/>
        </p:nvSpPr>
        <p:spPr>
          <a:xfrm>
            <a:off x="680720" y="1838960"/>
            <a:ext cx="72440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Audio projector (2-layer MLP ) to align the audio and text embeddings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Extra </a:t>
            </a:r>
            <a:r>
              <a:rPr lang="en-US" dirty="0" err="1"/>
              <a:t>LoRA</a:t>
            </a:r>
            <a:r>
              <a:rPr lang="en-US" dirty="0"/>
              <a:t> is added on all the linear layers in the language decoder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Audio encoder and projector introduce 460 M model parameter while vision adapter </a:t>
            </a:r>
            <a:r>
              <a:rPr lang="en-US" dirty="0" err="1"/>
              <a:t>LoRA</a:t>
            </a:r>
            <a:r>
              <a:rPr lang="en-US" dirty="0"/>
              <a:t> consume 460M parameter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A41C8CB-F82D-0F16-136F-87E53E7A2262}"/>
              </a:ext>
            </a:extLst>
          </p:cNvPr>
          <p:cNvSpPr/>
          <p:nvPr/>
        </p:nvSpPr>
        <p:spPr>
          <a:xfrm>
            <a:off x="7941465" y="2405917"/>
            <a:ext cx="3234535" cy="3187102"/>
          </a:xfrm>
          <a:prstGeom prst="roundRect">
            <a:avLst>
              <a:gd name="adj" fmla="val 308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0ABFA4B-4AB8-5118-401F-F41A3CFCE693}"/>
              </a:ext>
            </a:extLst>
          </p:cNvPr>
          <p:cNvSpPr/>
          <p:nvPr/>
        </p:nvSpPr>
        <p:spPr>
          <a:xfrm>
            <a:off x="8449012" y="2796643"/>
            <a:ext cx="2296864" cy="3370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RMS Norm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05572B2-4D45-1368-4C49-BF95A84C6794}"/>
              </a:ext>
            </a:extLst>
          </p:cNvPr>
          <p:cNvSpPr/>
          <p:nvPr/>
        </p:nvSpPr>
        <p:spPr>
          <a:xfrm>
            <a:off x="8449012" y="3316289"/>
            <a:ext cx="2296864" cy="473376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Multi-head self attention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102F92E-7449-75AA-BAC9-1B54621ED553}"/>
              </a:ext>
            </a:extLst>
          </p:cNvPr>
          <p:cNvSpPr/>
          <p:nvPr/>
        </p:nvSpPr>
        <p:spPr>
          <a:xfrm>
            <a:off x="8449012" y="4259952"/>
            <a:ext cx="2296864" cy="3370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RMS Norm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2723151-F173-E348-0CCC-1446C211D1DC}"/>
              </a:ext>
            </a:extLst>
          </p:cNvPr>
          <p:cNvSpPr/>
          <p:nvPr/>
        </p:nvSpPr>
        <p:spPr>
          <a:xfrm>
            <a:off x="8449012" y="4927368"/>
            <a:ext cx="2296864" cy="325605"/>
          </a:xfrm>
          <a:prstGeom prst="roundRect">
            <a:avLst/>
          </a:prstGeom>
          <a:solidFill>
            <a:srgbClr val="A7AD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Feed Forward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CDB85B0-D898-6FD4-08E7-AF6D079F6BC3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9597444" y="2306320"/>
            <a:ext cx="0" cy="49032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5BEA41A-A858-5F58-9B6C-AADD93468858}"/>
              </a:ext>
            </a:extLst>
          </p:cNvPr>
          <p:cNvCxnSpPr>
            <a:cxnSpLocks/>
          </p:cNvCxnSpPr>
          <p:nvPr/>
        </p:nvCxnSpPr>
        <p:spPr>
          <a:xfrm>
            <a:off x="9597444" y="4612372"/>
            <a:ext cx="0" cy="32943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B3A889F-4828-FBB7-4BB9-D79881615A03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9597444" y="3815596"/>
            <a:ext cx="0" cy="4443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Flowchart: Or 16">
            <a:extLst>
              <a:ext uri="{FF2B5EF4-FFF2-40B4-BE49-F238E27FC236}">
                <a16:creationId xmlns:a16="http://schemas.microsoft.com/office/drawing/2014/main" id="{B904908B-58F3-03E7-378B-2FE88C843D9C}"/>
              </a:ext>
            </a:extLst>
          </p:cNvPr>
          <p:cNvSpPr/>
          <p:nvPr/>
        </p:nvSpPr>
        <p:spPr>
          <a:xfrm>
            <a:off x="9485611" y="3877769"/>
            <a:ext cx="206460" cy="176209"/>
          </a:xfrm>
          <a:prstGeom prst="flowChartOr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EDD9740-F89F-1D0A-56B2-9998B36D71B6}"/>
              </a:ext>
            </a:extLst>
          </p:cNvPr>
          <p:cNvCxnSpPr>
            <a:cxnSpLocks/>
          </p:cNvCxnSpPr>
          <p:nvPr/>
        </p:nvCxnSpPr>
        <p:spPr>
          <a:xfrm>
            <a:off x="9597444" y="5252973"/>
            <a:ext cx="0" cy="4903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91106B3-258C-1BA7-14BC-C1F11FF4F543}"/>
              </a:ext>
            </a:extLst>
          </p:cNvPr>
          <p:cNvCxnSpPr/>
          <p:nvPr/>
        </p:nvCxnSpPr>
        <p:spPr>
          <a:xfrm flipH="1">
            <a:off x="8173733" y="2597450"/>
            <a:ext cx="1423711" cy="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3A277F7-5D9E-35B0-E839-34BABDA70BC5}"/>
              </a:ext>
            </a:extLst>
          </p:cNvPr>
          <p:cNvCxnSpPr>
            <a:cxnSpLocks/>
          </p:cNvCxnSpPr>
          <p:nvPr/>
        </p:nvCxnSpPr>
        <p:spPr>
          <a:xfrm>
            <a:off x="8173733" y="2594502"/>
            <a:ext cx="0" cy="1358998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EFC335F-3E09-0F04-C4E3-5D1A50007442}"/>
              </a:ext>
            </a:extLst>
          </p:cNvPr>
          <p:cNvCxnSpPr>
            <a:endCxn id="17" idx="2"/>
          </p:cNvCxnSpPr>
          <p:nvPr/>
        </p:nvCxnSpPr>
        <p:spPr>
          <a:xfrm>
            <a:off x="8165130" y="3954383"/>
            <a:ext cx="1320482" cy="11492"/>
          </a:xfrm>
          <a:prstGeom prst="straightConnector1">
            <a:avLst/>
          </a:prstGeom>
          <a:ln w="2222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lowchart: Or 22">
            <a:extLst>
              <a:ext uri="{FF2B5EF4-FFF2-40B4-BE49-F238E27FC236}">
                <a16:creationId xmlns:a16="http://schemas.microsoft.com/office/drawing/2014/main" id="{5B569541-852D-88F3-C697-939AE2C40BAA}"/>
              </a:ext>
            </a:extLst>
          </p:cNvPr>
          <p:cNvSpPr/>
          <p:nvPr/>
        </p:nvSpPr>
        <p:spPr>
          <a:xfrm>
            <a:off x="9494214" y="5341079"/>
            <a:ext cx="206460" cy="176209"/>
          </a:xfrm>
          <a:prstGeom prst="flowChartOr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42526B0-7FC5-A325-A885-3691D7E4137C}"/>
              </a:ext>
            </a:extLst>
          </p:cNvPr>
          <p:cNvCxnSpPr/>
          <p:nvPr/>
        </p:nvCxnSpPr>
        <p:spPr>
          <a:xfrm flipH="1">
            <a:off x="8182335" y="4106726"/>
            <a:ext cx="1423711" cy="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7505EE8-9C93-0D9A-8F5F-A4F5EAFCED2B}"/>
              </a:ext>
            </a:extLst>
          </p:cNvPr>
          <p:cNvCxnSpPr>
            <a:cxnSpLocks/>
          </p:cNvCxnSpPr>
          <p:nvPr/>
        </p:nvCxnSpPr>
        <p:spPr>
          <a:xfrm>
            <a:off x="8182335" y="4103779"/>
            <a:ext cx="0" cy="123730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D5ACC23-E01B-38E1-18C4-3CA76535B50B}"/>
              </a:ext>
            </a:extLst>
          </p:cNvPr>
          <p:cNvCxnSpPr/>
          <p:nvPr/>
        </p:nvCxnSpPr>
        <p:spPr>
          <a:xfrm>
            <a:off x="8182335" y="5404725"/>
            <a:ext cx="1320482" cy="11492"/>
          </a:xfrm>
          <a:prstGeom prst="straightConnector1">
            <a:avLst/>
          </a:prstGeom>
          <a:ln w="2222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2B484D3-479B-80E0-31F6-78AD7D37C2BF}"/>
              </a:ext>
            </a:extLst>
          </p:cNvPr>
          <p:cNvSpPr/>
          <p:nvPr/>
        </p:nvSpPr>
        <p:spPr>
          <a:xfrm>
            <a:off x="8440410" y="5738583"/>
            <a:ext cx="2296864" cy="33709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LM Head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A555F0-A7E9-4B00-2DAB-1D90FCBB69F4}"/>
              </a:ext>
            </a:extLst>
          </p:cNvPr>
          <p:cNvSpPr txBox="1"/>
          <p:nvPr/>
        </p:nvSpPr>
        <p:spPr>
          <a:xfrm>
            <a:off x="9796090" y="2344627"/>
            <a:ext cx="1379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Transformer </a:t>
            </a:r>
          </a:p>
          <a:p>
            <a:r>
              <a:rPr lang="en-US" dirty="0">
                <a:solidFill>
                  <a:srgbClr val="002060"/>
                </a:solidFill>
              </a:rPr>
              <a:t>Block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9C8E953-EF78-DCDE-AB07-917E3A8CA799}"/>
              </a:ext>
            </a:extLst>
          </p:cNvPr>
          <p:cNvSpPr/>
          <p:nvPr/>
        </p:nvSpPr>
        <p:spPr>
          <a:xfrm>
            <a:off x="6664960" y="3465945"/>
            <a:ext cx="1541638" cy="325605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320 Rank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79E4891-196D-BE81-8170-A0BB4F56220E}"/>
              </a:ext>
            </a:extLst>
          </p:cNvPr>
          <p:cNvSpPr/>
          <p:nvPr/>
        </p:nvSpPr>
        <p:spPr>
          <a:xfrm>
            <a:off x="6664960" y="4906771"/>
            <a:ext cx="1541638" cy="325605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320 Rank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A84FE55-5F23-022E-2DD0-137DCAB52A5F}"/>
              </a:ext>
            </a:extLst>
          </p:cNvPr>
          <p:cNvSpPr txBox="1"/>
          <p:nvPr/>
        </p:nvSpPr>
        <p:spPr>
          <a:xfrm>
            <a:off x="6840075" y="3818098"/>
            <a:ext cx="13204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Audio Adapter </a:t>
            </a:r>
            <a:r>
              <a:rPr lang="en-US" dirty="0" err="1"/>
              <a:t>LoRA</a:t>
            </a:r>
            <a:endParaRPr lang="en-US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1D89AB0-E239-CBA5-CD85-59533945DB55}"/>
              </a:ext>
            </a:extLst>
          </p:cNvPr>
          <p:cNvCxnSpPr>
            <a:cxnSpLocks/>
          </p:cNvCxnSpPr>
          <p:nvPr/>
        </p:nvCxnSpPr>
        <p:spPr>
          <a:xfrm>
            <a:off x="9581677" y="1312570"/>
            <a:ext cx="0" cy="2694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E83005B-2CA0-DA9A-D18A-84942D8FE509}"/>
              </a:ext>
            </a:extLst>
          </p:cNvPr>
          <p:cNvSpPr txBox="1"/>
          <p:nvPr/>
        </p:nvSpPr>
        <p:spPr>
          <a:xfrm>
            <a:off x="9529296" y="2021840"/>
            <a:ext cx="886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3072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042082-F667-67B8-D2F4-5F753BDCFF8C}"/>
              </a:ext>
            </a:extLst>
          </p:cNvPr>
          <p:cNvSpPr txBox="1"/>
          <p:nvPr/>
        </p:nvSpPr>
        <p:spPr>
          <a:xfrm>
            <a:off x="9623370" y="1270000"/>
            <a:ext cx="886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1024</a:t>
            </a:r>
          </a:p>
        </p:txBody>
      </p:sp>
    </p:spTree>
    <p:extLst>
      <p:ext uri="{BB962C8B-B14F-4D97-AF65-F5344CB8AC3E}">
        <p14:creationId xmlns:p14="http://schemas.microsoft.com/office/powerpoint/2010/main" val="3445048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20D054F8-41D8-4DD6-D86B-EB8289B2D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080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itle 7">
            <a:extLst>
              <a:ext uri="{FF2B5EF4-FFF2-40B4-BE49-F238E27FC236}">
                <a16:creationId xmlns:a16="http://schemas.microsoft.com/office/drawing/2014/main" id="{7EB286A9-5782-46E8-307E-7CBAD4200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81" y="396239"/>
            <a:ext cx="7186459" cy="1534161"/>
          </a:xfrm>
        </p:spPr>
        <p:txBody>
          <a:bodyPr/>
          <a:lstStyle/>
          <a:p>
            <a:r>
              <a:rPr lang="en-US" dirty="0"/>
              <a:t> Phi 4 Mini Multimodal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CE089FC-0ECC-CFD4-90F5-F7CB26563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057" y="1584844"/>
            <a:ext cx="9055565" cy="452143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33270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20D054F8-41D8-4DD6-D86B-EB8289B2D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080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itle 7">
            <a:extLst>
              <a:ext uri="{FF2B5EF4-FFF2-40B4-BE49-F238E27FC236}">
                <a16:creationId xmlns:a16="http://schemas.microsoft.com/office/drawing/2014/main" id="{7EB286A9-5782-46E8-307E-7CBAD4200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81" y="396239"/>
            <a:ext cx="7186459" cy="1534161"/>
          </a:xfrm>
        </p:spPr>
        <p:txBody>
          <a:bodyPr/>
          <a:lstStyle/>
          <a:p>
            <a:r>
              <a:rPr lang="en-US" dirty="0"/>
              <a:t>Training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C45B9E-D890-5A28-7CA0-511B43910B7E}"/>
              </a:ext>
            </a:extLst>
          </p:cNvPr>
          <p:cNvSpPr txBox="1"/>
          <p:nvPr/>
        </p:nvSpPr>
        <p:spPr>
          <a:xfrm>
            <a:off x="650240" y="1645920"/>
            <a:ext cx="1067816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Training process comprises multiple stages, including language training (encompassing both pretraining and post-training) and then expansion of the language backbone to vision and speech/audio modalities.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Once the language model training is complete, </a:t>
            </a:r>
            <a:r>
              <a:rPr lang="en-US" b="1" dirty="0"/>
              <a:t>freeze the language model </a:t>
            </a:r>
            <a:r>
              <a:rPr lang="en-US" dirty="0"/>
              <a:t>and implement “Mixture of </a:t>
            </a:r>
            <a:r>
              <a:rPr lang="en-US" dirty="0" err="1"/>
              <a:t>LoRAs</a:t>
            </a:r>
            <a:r>
              <a:rPr lang="en-US" dirty="0"/>
              <a:t>” technique to proceed with the multimodal training stage.</a:t>
            </a:r>
          </a:p>
          <a:p>
            <a:endParaRPr lang="en-US" dirty="0"/>
          </a:p>
          <a:p>
            <a:r>
              <a:rPr lang="en-US" sz="2400" b="1" dirty="0"/>
              <a:t>Vision Training</a:t>
            </a:r>
          </a:p>
          <a:p>
            <a:pPr marL="457200" indent="-457200">
              <a:buFont typeface="+mj-lt"/>
              <a:buAutoNum type="arabicParenR"/>
            </a:pPr>
            <a:r>
              <a:rPr lang="en-US" b="1" dirty="0"/>
              <a:t>Projector Alignment Stage (caption data, projector )</a:t>
            </a:r>
          </a:p>
          <a:p>
            <a:pPr marL="457200" indent="-457200">
              <a:buFont typeface="+mj-lt"/>
              <a:buAutoNum type="arabicParenR"/>
            </a:pPr>
            <a:r>
              <a:rPr lang="en-US" b="1" dirty="0"/>
              <a:t>Joint Vision Training Stage (Vision dataset, Vision encoder, projector)</a:t>
            </a:r>
          </a:p>
          <a:p>
            <a:pPr marL="457200" indent="-457200">
              <a:buFont typeface="+mj-lt"/>
              <a:buAutoNum type="arabicParenR"/>
            </a:pPr>
            <a:r>
              <a:rPr lang="en-US" b="1" dirty="0"/>
              <a:t>Generative Vision Language stage  (Vision Language dataset, Vision encoder, projector, </a:t>
            </a:r>
            <a:r>
              <a:rPr lang="en-US" b="1" dirty="0" err="1"/>
              <a:t>LoRAv</a:t>
            </a:r>
            <a:r>
              <a:rPr lang="en-US" b="1" dirty="0"/>
              <a:t>)</a:t>
            </a:r>
          </a:p>
          <a:p>
            <a:pPr marL="457200" indent="-457200">
              <a:buFont typeface="+mj-lt"/>
              <a:buAutoNum type="arabicParenR"/>
            </a:pPr>
            <a:r>
              <a:rPr lang="en-US" b="1" dirty="0"/>
              <a:t>Multi Frame Training Stage (Multi Frame SFT data , Vision encoder Frozen)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50609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20D054F8-41D8-4DD6-D86B-EB8289B2D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080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C45B9E-D890-5A28-7CA0-511B43910B7E}"/>
              </a:ext>
            </a:extLst>
          </p:cNvPr>
          <p:cNvSpPr txBox="1"/>
          <p:nvPr/>
        </p:nvSpPr>
        <p:spPr>
          <a:xfrm>
            <a:off x="650240" y="548640"/>
            <a:ext cx="1067816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Speech and Audio Training</a:t>
            </a:r>
          </a:p>
          <a:p>
            <a:pPr marL="457200" indent="-457200">
              <a:buFont typeface="+mj-lt"/>
              <a:buAutoNum type="arabicParenR"/>
            </a:pPr>
            <a:r>
              <a:rPr lang="en-US" b="1" dirty="0"/>
              <a:t>Audio/Speech Pre-training (ASR data, encoder, projector)</a:t>
            </a:r>
          </a:p>
          <a:p>
            <a:pPr marL="457200" indent="-457200">
              <a:buFont typeface="+mj-lt"/>
              <a:buAutoNum type="arabicParenR"/>
            </a:pPr>
            <a:r>
              <a:rPr lang="en-US" b="1" dirty="0"/>
              <a:t>Audio/Speech Post-training (</a:t>
            </a:r>
            <a:r>
              <a:rPr lang="en-US" b="1" dirty="0" err="1"/>
              <a:t>LoRAa</a:t>
            </a:r>
            <a:r>
              <a:rPr lang="en-US" b="1" dirty="0"/>
              <a:t>, audio projector, audio encoder frozen)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sz="2400" b="1" dirty="0"/>
              <a:t>Vision-Speech Joint Training</a:t>
            </a:r>
          </a:p>
          <a:p>
            <a:r>
              <a:rPr lang="en-US" dirty="0"/>
              <a:t>Freeze audio encoder and audio projector, while finetuning </a:t>
            </a:r>
            <a:r>
              <a:rPr lang="en-US" dirty="0" err="1"/>
              <a:t>LoRAv</a:t>
            </a:r>
            <a:r>
              <a:rPr lang="en-US" dirty="0"/>
              <a:t>, vision encoder and vision projector. Train  on vision-speech SFT dataset</a:t>
            </a:r>
          </a:p>
        </p:txBody>
      </p:sp>
    </p:spTree>
    <p:extLst>
      <p:ext uri="{BB962C8B-B14F-4D97-AF65-F5344CB8AC3E}">
        <p14:creationId xmlns:p14="http://schemas.microsoft.com/office/powerpoint/2010/main" val="811885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961152-381E-D654-15E9-7C4F09608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1549" y="3227070"/>
            <a:ext cx="3220905" cy="291465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2050" name="Picture 2" descr="Question Ppt Powerpoint Presentation File Pictures | PPT ...">
            <a:extLst>
              <a:ext uri="{FF2B5EF4-FFF2-40B4-BE49-F238E27FC236}">
                <a16:creationId xmlns:a16="http://schemas.microsoft.com/office/drawing/2014/main" id="{07BE7D91-FCC3-3782-7E46-35BB3A0CDA08}"/>
              </a:ext>
            </a:extLst>
          </p:cNvPr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4486" y="897057"/>
            <a:ext cx="457200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384453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FB09D"/>
      </a:accent1>
      <a:accent2>
        <a:srgbClr val="FFD7C7"/>
      </a:accent2>
      <a:accent3>
        <a:srgbClr val="FFE9E0"/>
      </a:accent3>
      <a:accent4>
        <a:srgbClr val="55736D"/>
      </a:accent4>
      <a:accent5>
        <a:srgbClr val="88A88E"/>
      </a:accent5>
      <a:accent6>
        <a:srgbClr val="E6FFFB"/>
      </a:accent6>
      <a:hlink>
        <a:srgbClr val="0563C1"/>
      </a:hlink>
      <a:folHlink>
        <a:srgbClr val="954F72"/>
      </a:folHlink>
    </a:clrScheme>
    <a:fontScheme name="Custom 116">
      <a:majorFont>
        <a:latin typeface="Bodoni MT"/>
        <a:ea typeface=""/>
        <a:cs typeface=""/>
      </a:majorFont>
      <a:minorFont>
        <a:latin typeface="Sourc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66722518_win32_SD_v11" id="{6E195932-91F4-4861-8538-848409B20D97}" vid="{F5C82CE7-F5AC-4E30-975C-FD228ED220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2E4FA29-61E2-42A6-9537-732ED628B6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F796806-D3A7-49C6-9335-B8A0B9307F8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37CDA33-9251-49D0-A51A-7888AA3E063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{F18C05AB-4D06-407F-9438-FF3743596B95}tf66722518_win32</Template>
  <TotalTime>1030</TotalTime>
  <Words>830</Words>
  <Application>Microsoft Office PowerPoint</Application>
  <PresentationFormat>Widescreen</PresentationFormat>
  <Paragraphs>188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Bodoni MT</vt:lpstr>
      <vt:lpstr>Calibri</vt:lpstr>
      <vt:lpstr>Cambria Math</vt:lpstr>
      <vt:lpstr>Source Sans Pro Light</vt:lpstr>
      <vt:lpstr>Wingdings</vt:lpstr>
      <vt:lpstr>Custom</vt:lpstr>
      <vt:lpstr>Phi-4-Mini Technical Report</vt:lpstr>
      <vt:lpstr>Topic</vt:lpstr>
      <vt:lpstr> Phi-4-Mini</vt:lpstr>
      <vt:lpstr>PowerPoint Presentation</vt:lpstr>
      <vt:lpstr>PowerPoint Presentation</vt:lpstr>
      <vt:lpstr>PowerPoint Presentation</vt:lpstr>
      <vt:lpstr>Let’s say we have an input vector x of dimension d.  Step 1 ) Compute the Root Mean Square (RMS)    RMS= √(1/d ∑_(i=1)^d▒x_1^2   +ϵ     )  Step 2 ) Normalize the Input                                                                        x ̂_i=  x_i/(RMS(x))  Step 3 ) Apply Learnable Scale Parameters (γ)                    RMSnorm(x_i )= γ_i 〖.x〗_i</vt:lpstr>
      <vt:lpstr>PowerPoint Presentation</vt:lpstr>
      <vt:lpstr> Phi-4-Mini-Multimodal</vt:lpstr>
      <vt:lpstr>Vision Modality</vt:lpstr>
      <vt:lpstr>Speech and Audio Modality</vt:lpstr>
      <vt:lpstr> Phi 4 Mini Multimodal</vt:lpstr>
      <vt:lpstr>Training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maurya jitender(ＴＳＩＰ R and D Division)</dc:creator>
  <cp:lastModifiedBy>maurya jitender(ＴＳＩＰ R and D Division)</cp:lastModifiedBy>
  <cp:revision>67</cp:revision>
  <dcterms:created xsi:type="dcterms:W3CDTF">2025-05-28T07:59:16Z</dcterms:created>
  <dcterms:modified xsi:type="dcterms:W3CDTF">2025-05-29T02:24:10Z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